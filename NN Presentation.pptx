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aleway"/>
      <p:regular r:id="rId23"/>
      <p:bold r:id="rId24"/>
      <p:italic r:id="rId25"/>
      <p:boldItalic r:id="rId26"/>
    </p:embeddedFont>
    <p:embeddedFont>
      <p:font typeface="La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aleway-bold.fntdata"/><Relationship Id="rId23" Type="http://schemas.openxmlformats.org/officeDocument/2006/relationships/font" Target="fonts/Ralew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boldItalic.fntdata"/><Relationship Id="rId25" Type="http://schemas.openxmlformats.org/officeDocument/2006/relationships/font" Target="fonts/Raleway-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1d742819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51d742819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f7463982f_0_1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f7463982f_0_1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4f7463982f_0_1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4f7463982f_0_1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2b45971c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52b45971c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f7463982f_0_1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f7463982f_0_1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51ab2d7993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51ab2d7993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539fb6d4d1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539fb6d4d1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539165827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539165827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39fb6d4d1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539fb6d4d1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539fb6d4d1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539fb6d4d1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1ab2d7993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1ab2d7993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539fb6d4d1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539fb6d4d1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539fb6d4d1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539fb6d4d1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53916582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53916582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595959"/>
              </a:buClr>
              <a:buSzPts val="1300"/>
              <a:buFont typeface="Lato"/>
              <a:buChar char="●"/>
            </a:pPr>
            <a:r>
              <a:rPr lang="en-GB" sz="1300">
                <a:solidFill>
                  <a:srgbClr val="595959"/>
                </a:solidFill>
                <a:latin typeface="Lato"/>
                <a:ea typeface="Lato"/>
                <a:cs typeface="Lato"/>
                <a:sym typeface="Lato"/>
              </a:rPr>
              <a:t>Addition of modest real world data to the training data significantly improved LSTM’s performance </a:t>
            </a:r>
            <a:endParaRPr sz="1300">
              <a:solidFill>
                <a:srgbClr val="595959"/>
              </a:solidFill>
              <a:latin typeface="Lato"/>
              <a:ea typeface="Lato"/>
              <a:cs typeface="Lato"/>
              <a:sym typeface="Lato"/>
            </a:endParaRPr>
          </a:p>
          <a:p>
            <a:pPr indent="-311150" lvl="0" marL="457200" rtl="0" algn="l">
              <a:lnSpc>
                <a:spcPct val="115000"/>
              </a:lnSpc>
              <a:spcBef>
                <a:spcPts val="0"/>
              </a:spcBef>
              <a:spcAft>
                <a:spcPts val="0"/>
              </a:spcAft>
              <a:buClr>
                <a:srgbClr val="595959"/>
              </a:buClr>
              <a:buSzPts val="1300"/>
              <a:buFont typeface="Lato"/>
              <a:buChar char="●"/>
            </a:pPr>
            <a:r>
              <a:rPr lang="en-GB" sz="1300">
                <a:solidFill>
                  <a:srgbClr val="595959"/>
                </a:solidFill>
                <a:latin typeface="Lato"/>
                <a:ea typeface="Lato"/>
                <a:cs typeface="Lato"/>
                <a:sym typeface="Lato"/>
              </a:rPr>
              <a:t>Hence we generated synthetic data to boost the </a:t>
            </a:r>
            <a:endParaRPr sz="1300">
              <a:solidFill>
                <a:srgbClr val="595959"/>
              </a:solidFill>
              <a:latin typeface="Lato"/>
              <a:ea typeface="Lato"/>
              <a:cs typeface="Lato"/>
              <a:sym typeface="Lato"/>
            </a:endParaRPr>
          </a:p>
          <a:p>
            <a:pPr indent="-311150" lvl="0" marL="457200" rtl="0" algn="l">
              <a:lnSpc>
                <a:spcPct val="115000"/>
              </a:lnSpc>
              <a:spcBef>
                <a:spcPts val="0"/>
              </a:spcBef>
              <a:spcAft>
                <a:spcPts val="0"/>
              </a:spcAft>
              <a:buClr>
                <a:srgbClr val="595959"/>
              </a:buClr>
              <a:buSzPts val="1300"/>
              <a:buFont typeface="Lato"/>
              <a:buChar char="●"/>
            </a:pPr>
            <a:r>
              <a:rPr lang="en-GB" sz="1300">
                <a:solidFill>
                  <a:srgbClr val="595959"/>
                </a:solidFill>
                <a:latin typeface="Lato"/>
                <a:ea typeface="Lato"/>
                <a:cs typeface="Lato"/>
                <a:sym typeface="Lato"/>
              </a:rPr>
              <a:t>While holding the test set constant, From our implementation in </a:t>
            </a:r>
            <a:endParaRPr sz="1300">
              <a:solidFill>
                <a:srgbClr val="595959"/>
              </a:solidFill>
              <a:latin typeface="Lato"/>
              <a:ea typeface="Lato"/>
              <a:cs typeface="Lato"/>
              <a:sym typeface="Lato"/>
            </a:endParaRPr>
          </a:p>
          <a:p>
            <a:pPr indent="-311150" lvl="0" marL="457200" rtl="0" algn="l">
              <a:lnSpc>
                <a:spcPct val="115000"/>
              </a:lnSpc>
              <a:spcBef>
                <a:spcPts val="0"/>
              </a:spcBef>
              <a:spcAft>
                <a:spcPts val="0"/>
              </a:spcAft>
              <a:buClr>
                <a:srgbClr val="595959"/>
              </a:buClr>
              <a:buSzPts val="1300"/>
              <a:buFont typeface="Lato"/>
              <a:buChar char="●"/>
            </a:pPr>
            <a:r>
              <a:rPr lang="en-GB" sz="1300">
                <a:solidFill>
                  <a:srgbClr val="595959"/>
                </a:solidFill>
                <a:latin typeface="Lato"/>
                <a:ea typeface="Lato"/>
                <a:cs typeface="Lato"/>
                <a:sym typeface="Lato"/>
              </a:rPr>
              <a:t>Utilising the same model parameters found in the original runs, we reran the models with the augmented datasets </a:t>
            </a:r>
            <a:endParaRPr sz="1300">
              <a:solidFill>
                <a:srgbClr val="595959"/>
              </a:solidFill>
              <a:latin typeface="Lato"/>
              <a:ea typeface="Lato"/>
              <a:cs typeface="Lato"/>
              <a:sym typeface="Lato"/>
            </a:endParaRPr>
          </a:p>
          <a:p>
            <a:pPr indent="-311150" lvl="0" marL="457200" rtl="0" algn="l">
              <a:lnSpc>
                <a:spcPct val="115000"/>
              </a:lnSpc>
              <a:spcBef>
                <a:spcPts val="0"/>
              </a:spcBef>
              <a:spcAft>
                <a:spcPts val="0"/>
              </a:spcAft>
              <a:buClr>
                <a:srgbClr val="595959"/>
              </a:buClr>
              <a:buSzPts val="1300"/>
              <a:buFont typeface="Lato"/>
              <a:buChar char="●"/>
            </a:pPr>
            <a:r>
              <a:rPr lang="en-GB" sz="1300">
                <a:solidFill>
                  <a:srgbClr val="595959"/>
                </a:solidFill>
                <a:latin typeface="Lato"/>
                <a:ea typeface="Lato"/>
                <a:cs typeface="Lato"/>
                <a:sym typeface="Lato"/>
              </a:rPr>
              <a:t>While we expected performance to increase across the board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539fb6d4d1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539fb6d4d1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GB" sz="1300">
                <a:solidFill>
                  <a:srgbClr val="595959"/>
                </a:solidFill>
                <a:latin typeface="Lato"/>
                <a:ea typeface="Lato"/>
                <a:cs typeface="Lato"/>
                <a:sym typeface="Lato"/>
              </a:rPr>
              <a:t>This project explored how the gamut of classic to modern machine learning techniques would perform in addressing the goal of classifying a news article into one of five political bias labels.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52b45971c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52b45971c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26" name="Google Shape;26;p4"/>
          <p:cNvSpPr/>
          <p:nvPr/>
        </p:nvSpPr>
        <p:spPr>
          <a:xfrm>
            <a:off x="0" y="-15240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 name="Google Shape;27;p4"/>
          <p:cNvGrpSpPr/>
          <p:nvPr/>
        </p:nvGrpSpPr>
        <p:grpSpPr>
          <a:xfrm>
            <a:off x="830392" y="810256"/>
            <a:ext cx="745763" cy="45826"/>
            <a:chOff x="4580561" y="2589004"/>
            <a:chExt cx="1064464" cy="25200"/>
          </a:xfrm>
        </p:grpSpPr>
        <p:sp>
          <p:nvSpPr>
            <p:cNvPr id="28" name="Google Shape;28;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 name="Google Shape;30;p4"/>
          <p:cNvSpPr txBox="1"/>
          <p:nvPr>
            <p:ph type="title"/>
          </p:nvPr>
        </p:nvSpPr>
        <p:spPr>
          <a:xfrm>
            <a:off x="729450" y="31142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3" name="Google Shape;33;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4" name="Google Shape;34;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35" name="Google Shape;35;p5"/>
          <p:cNvSpPr/>
          <p:nvPr/>
        </p:nvSpPr>
        <p:spPr>
          <a:xfrm>
            <a:off x="0" y="-15240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 name="Google Shape;36;p5"/>
          <p:cNvGrpSpPr/>
          <p:nvPr/>
        </p:nvGrpSpPr>
        <p:grpSpPr>
          <a:xfrm>
            <a:off x="830392" y="810256"/>
            <a:ext cx="745763" cy="45826"/>
            <a:chOff x="4580561" y="2589004"/>
            <a:chExt cx="1064464" cy="25200"/>
          </a:xfrm>
        </p:grpSpPr>
        <p:sp>
          <p:nvSpPr>
            <p:cNvPr id="37" name="Google Shape;37;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5"/>
          <p:cNvSpPr txBox="1"/>
          <p:nvPr>
            <p:ph type="title"/>
          </p:nvPr>
        </p:nvSpPr>
        <p:spPr>
          <a:xfrm>
            <a:off x="729450" y="31142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15240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810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31142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50" name="Google Shape;50;p7"/>
          <p:cNvSpPr/>
          <p:nvPr/>
        </p:nvSpPr>
        <p:spPr>
          <a:xfrm>
            <a:off x="0" y="-15240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 name="Google Shape;51;p7"/>
          <p:cNvGrpSpPr/>
          <p:nvPr/>
        </p:nvGrpSpPr>
        <p:grpSpPr>
          <a:xfrm>
            <a:off x="830392" y="810256"/>
            <a:ext cx="745763" cy="45826"/>
            <a:chOff x="4580561" y="2589004"/>
            <a:chExt cx="1064464" cy="25200"/>
          </a:xfrm>
        </p:grpSpPr>
        <p:sp>
          <p:nvSpPr>
            <p:cNvPr id="52" name="Google Shape;52;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 name="Google Shape;54;p7"/>
          <p:cNvSpPr txBox="1"/>
          <p:nvPr>
            <p:ph type="title"/>
          </p:nvPr>
        </p:nvSpPr>
        <p:spPr>
          <a:xfrm>
            <a:off x="729450" y="31142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9.png"/><Relationship Id="rId5" Type="http://schemas.openxmlformats.org/officeDocument/2006/relationships/image" Target="../media/image11.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28.png"/><Relationship Id="rId5"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27.png"/><Relationship Id="rId6"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allsides.com/media-bias/media-bias-rating-methods" TargetMode="External"/><Relationship Id="rId4" Type="http://schemas.openxmlformats.org/officeDocument/2006/relationships/hyperlink" Target="https://worldnewsapi.com/" TargetMode="External"/><Relationship Id="rId5" Type="http://schemas.openxmlformats.org/officeDocument/2006/relationships/hyperlink" Target="https://mediabiasfactcheck.com/" TargetMode="External"/><Relationship Id="rId6" Type="http://schemas.openxmlformats.org/officeDocument/2006/relationships/hyperlink" Target="https://doi.org/10.18653/v1/P18-102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From Decision Trees to LLaMA: Evaluating Model Performance in News Political Bias Detection</a:t>
            </a:r>
            <a:endParaRPr/>
          </a:p>
        </p:txBody>
      </p:sp>
      <p:sp>
        <p:nvSpPr>
          <p:cNvPr id="87" name="Google Shape;87;p13"/>
          <p:cNvSpPr txBox="1"/>
          <p:nvPr>
            <p:ph idx="1" type="subTitle"/>
          </p:nvPr>
        </p:nvSpPr>
        <p:spPr>
          <a:xfrm>
            <a:off x="729625" y="3172900"/>
            <a:ext cx="7688100" cy="144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Group 10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Benjamin Lee Jun Cheng A0286163Y</a:t>
            </a:r>
            <a:endParaRPr/>
          </a:p>
          <a:p>
            <a:pPr indent="0" lvl="0" marL="0" rtl="0" algn="l">
              <a:spcBef>
                <a:spcPts val="0"/>
              </a:spcBef>
              <a:spcAft>
                <a:spcPts val="0"/>
              </a:spcAft>
              <a:buNone/>
            </a:pPr>
            <a:r>
              <a:rPr lang="en-GB"/>
              <a:t>Lai Foong Ming A0268245X</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idx="2" type="body"/>
          </p:nvPr>
        </p:nvSpPr>
        <p:spPr>
          <a:xfrm>
            <a:off x="4643604" y="1012075"/>
            <a:ext cx="37743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Our approach:</a:t>
            </a:r>
            <a:endParaRPr b="1"/>
          </a:p>
          <a:p>
            <a:pPr indent="-311150" lvl="0" marL="457200" rtl="0" algn="l">
              <a:spcBef>
                <a:spcPts val="1200"/>
              </a:spcBef>
              <a:spcAft>
                <a:spcPts val="0"/>
              </a:spcAft>
              <a:buSzPts val="1300"/>
              <a:buChar char="●"/>
            </a:pPr>
            <a:r>
              <a:rPr lang="en-GB"/>
              <a:t>Develop ML-based political bias classifier</a:t>
            </a:r>
            <a:endParaRPr/>
          </a:p>
          <a:p>
            <a:pPr indent="0" lvl="0" marL="0" rtl="0" algn="l">
              <a:spcBef>
                <a:spcPts val="1200"/>
              </a:spcBef>
              <a:spcAft>
                <a:spcPts val="0"/>
              </a:spcAft>
              <a:buNone/>
            </a:pPr>
            <a:r>
              <a:t/>
            </a:r>
            <a:endParaRPr b="1"/>
          </a:p>
          <a:p>
            <a:pPr indent="0" lvl="0" marL="0" rtl="0" algn="l">
              <a:spcBef>
                <a:spcPts val="1200"/>
              </a:spcBef>
              <a:spcAft>
                <a:spcPts val="0"/>
              </a:spcAft>
              <a:buNone/>
            </a:pPr>
            <a:r>
              <a:rPr b="1" lang="en-GB"/>
              <a:t>Goal: </a:t>
            </a:r>
            <a:endParaRPr b="1"/>
          </a:p>
          <a:p>
            <a:pPr indent="-311150" lvl="0" marL="457200" rtl="0" algn="l">
              <a:spcBef>
                <a:spcPts val="1200"/>
              </a:spcBef>
              <a:spcAft>
                <a:spcPts val="0"/>
              </a:spcAft>
              <a:buSzPts val="1300"/>
              <a:buChar char="●"/>
            </a:pPr>
            <a:r>
              <a:rPr lang="en-GB"/>
              <a:t>Enable instant, on-demand bias assessment to enhance media literary </a:t>
            </a:r>
            <a:endParaRPr/>
          </a:p>
        </p:txBody>
      </p:sp>
      <p:sp>
        <p:nvSpPr>
          <p:cNvPr id="93" name="Google Shape;93;p14"/>
          <p:cNvSpPr txBox="1"/>
          <p:nvPr>
            <p:ph idx="1" type="body"/>
          </p:nvPr>
        </p:nvSpPr>
        <p:spPr>
          <a:xfrm>
            <a:off x="729325" y="1012075"/>
            <a:ext cx="3774300" cy="28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Problem statement:</a:t>
            </a:r>
            <a:endParaRPr b="1"/>
          </a:p>
          <a:p>
            <a:pPr indent="-311150" lvl="0" marL="457200" rtl="0" algn="l">
              <a:spcBef>
                <a:spcPts val="1200"/>
              </a:spcBef>
              <a:spcAft>
                <a:spcPts val="0"/>
              </a:spcAft>
              <a:buSzPts val="1300"/>
              <a:buChar char="●"/>
            </a:pPr>
            <a:r>
              <a:rPr lang="en-GB"/>
              <a:t>Human-based news rating systems are not scalable</a:t>
            </a:r>
            <a:endParaRPr/>
          </a:p>
          <a:p>
            <a:pPr indent="-311150" lvl="0" marL="457200" rtl="0" algn="l">
              <a:spcBef>
                <a:spcPts val="0"/>
              </a:spcBef>
              <a:spcAft>
                <a:spcPts val="0"/>
              </a:spcAft>
              <a:buSzPts val="1300"/>
              <a:buChar char="●"/>
            </a:pPr>
            <a:r>
              <a:rPr lang="en-GB"/>
              <a:t>Breaking news evaluated too late to be useful</a:t>
            </a:r>
            <a:endParaRPr/>
          </a:p>
          <a:p>
            <a:pPr indent="-311150" lvl="0" marL="457200" rtl="0" algn="l">
              <a:spcBef>
                <a:spcPts val="0"/>
              </a:spcBef>
              <a:spcAft>
                <a:spcPts val="0"/>
              </a:spcAft>
              <a:buSzPts val="1300"/>
              <a:buChar char="●"/>
            </a:pPr>
            <a:r>
              <a:rPr lang="en-GB"/>
              <a:t>Push notifications and RSS feeds outpace manual review</a:t>
            </a:r>
            <a:endParaRPr/>
          </a:p>
          <a:p>
            <a:pPr indent="-311150" lvl="0" marL="457200" rtl="0" algn="l">
              <a:spcBef>
                <a:spcPts val="0"/>
              </a:spcBef>
              <a:spcAft>
                <a:spcPts val="0"/>
              </a:spcAft>
              <a:buSzPts val="1300"/>
              <a:buChar char="●"/>
            </a:pPr>
            <a:r>
              <a:rPr lang="en-GB"/>
              <a:t>Rating sites have limited coverage of sources </a:t>
            </a:r>
            <a:endParaRPr/>
          </a:p>
          <a:p>
            <a:pPr indent="0" lvl="0" marL="0" rtl="0" algn="l">
              <a:spcBef>
                <a:spcPts val="1200"/>
              </a:spcBef>
              <a:spcAft>
                <a:spcPts val="1200"/>
              </a:spcAft>
              <a:buNone/>
            </a:pPr>
            <a:r>
              <a:t/>
            </a:r>
            <a:endParaRPr/>
          </a:p>
        </p:txBody>
      </p:sp>
      <p:sp>
        <p:nvSpPr>
          <p:cNvPr id="94" name="Google Shape;94;p14"/>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Motivation</a:t>
            </a:r>
            <a:endParaRPr/>
          </a:p>
        </p:txBody>
      </p:sp>
      <p:pic>
        <p:nvPicPr>
          <p:cNvPr id="95" name="Google Shape;95;p14" title="Screenshot 2025-05-02 at 13.41.50.png"/>
          <p:cNvPicPr preferRelativeResize="0"/>
          <p:nvPr/>
        </p:nvPicPr>
        <p:blipFill>
          <a:blip r:embed="rId3">
            <a:alphaModFix/>
          </a:blip>
          <a:stretch>
            <a:fillRect/>
          </a:stretch>
        </p:blipFill>
        <p:spPr>
          <a:xfrm>
            <a:off x="822675" y="3398925"/>
            <a:ext cx="3364275" cy="1701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idx="1" type="body"/>
          </p:nvPr>
        </p:nvSpPr>
        <p:spPr>
          <a:xfrm>
            <a:off x="729450" y="940750"/>
            <a:ext cx="3483900" cy="344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200"/>
              <a:t>Dataset: </a:t>
            </a:r>
            <a:endParaRPr b="1" sz="1200"/>
          </a:p>
          <a:p>
            <a:pPr indent="-304800" lvl="0" marL="457200" rtl="0" algn="l">
              <a:spcBef>
                <a:spcPts val="1200"/>
              </a:spcBef>
              <a:spcAft>
                <a:spcPts val="0"/>
              </a:spcAft>
              <a:buSzPts val="1200"/>
              <a:buChar char="●"/>
            </a:pPr>
            <a:r>
              <a:rPr lang="en-GB" sz="1200"/>
              <a:t>From Kaggle</a:t>
            </a:r>
            <a:endParaRPr sz="1200"/>
          </a:p>
          <a:p>
            <a:pPr indent="-304800" lvl="0" marL="457200" rtl="0" algn="l">
              <a:spcBef>
                <a:spcPts val="0"/>
              </a:spcBef>
              <a:spcAft>
                <a:spcPts val="0"/>
              </a:spcAft>
              <a:buSzPts val="1200"/>
              <a:buChar char="●"/>
            </a:pPr>
            <a:r>
              <a:rPr lang="en-GB" sz="1200"/>
              <a:t>n= 2185</a:t>
            </a:r>
            <a:endParaRPr sz="1200"/>
          </a:p>
          <a:p>
            <a:pPr indent="-304800" lvl="0" marL="457200" rtl="0" algn="l">
              <a:spcBef>
                <a:spcPts val="0"/>
              </a:spcBef>
              <a:spcAft>
                <a:spcPts val="0"/>
              </a:spcAft>
              <a:buSzPts val="1200"/>
              <a:buChar char="●"/>
            </a:pPr>
            <a:r>
              <a:rPr lang="en-GB" sz="1200"/>
              <a:t>5 target labels for bias: </a:t>
            </a:r>
            <a:endParaRPr sz="1200"/>
          </a:p>
          <a:p>
            <a:pPr indent="-304800" lvl="1" marL="914400" rtl="0" algn="l">
              <a:spcBef>
                <a:spcPts val="0"/>
              </a:spcBef>
              <a:spcAft>
                <a:spcPts val="0"/>
              </a:spcAft>
              <a:buSzPts val="1200"/>
              <a:buChar char="○"/>
            </a:pPr>
            <a:r>
              <a:rPr lang="en-GB" sz="1200"/>
              <a:t>Right, Lean Right, Centre, </a:t>
            </a:r>
            <a:br>
              <a:rPr lang="en-GB" sz="1200"/>
            </a:br>
            <a:r>
              <a:rPr lang="en-GB" sz="1200"/>
              <a:t>Lean Left, Left </a:t>
            </a:r>
            <a:endParaRPr sz="1200"/>
          </a:p>
          <a:p>
            <a:pPr indent="-304800" lvl="0" marL="457200" rtl="0" algn="l">
              <a:spcBef>
                <a:spcPts val="0"/>
              </a:spcBef>
              <a:spcAft>
                <a:spcPts val="0"/>
              </a:spcAft>
              <a:buSzPts val="1200"/>
              <a:buChar char="●"/>
            </a:pPr>
            <a:r>
              <a:rPr lang="en-GB" sz="1200"/>
              <a:t>News articles from 21 unique sites</a:t>
            </a:r>
            <a:endParaRPr sz="1200"/>
          </a:p>
          <a:p>
            <a:pPr indent="-304800" lvl="0" marL="457200" rtl="0" algn="l">
              <a:spcBef>
                <a:spcPts val="0"/>
              </a:spcBef>
              <a:spcAft>
                <a:spcPts val="0"/>
              </a:spcAft>
              <a:buSzPts val="1200"/>
              <a:buChar char="●"/>
            </a:pPr>
            <a:r>
              <a:rPr lang="en-GB" sz="1200"/>
              <a:t>Heavily </a:t>
            </a:r>
            <a:r>
              <a:rPr lang="en-GB" sz="1200"/>
              <a:t>imbalance</a:t>
            </a:r>
            <a:r>
              <a:rPr lang="en-GB" sz="1200"/>
              <a:t> towards left</a:t>
            </a:r>
            <a:endParaRPr sz="1200"/>
          </a:p>
          <a:p>
            <a:pPr indent="-304800" lvl="0" marL="457200" rtl="0" algn="l">
              <a:spcBef>
                <a:spcPts val="0"/>
              </a:spcBef>
              <a:spcAft>
                <a:spcPts val="0"/>
              </a:spcAft>
              <a:buSzPts val="1200"/>
              <a:buChar char="●"/>
            </a:pPr>
            <a:r>
              <a:rPr lang="en-GB" sz="1200"/>
              <a:t>Source == Bias </a:t>
            </a:r>
            <a:endParaRPr sz="1200"/>
          </a:p>
        </p:txBody>
      </p:sp>
      <p:sp>
        <p:nvSpPr>
          <p:cNvPr id="101" name="Google Shape;101;p15"/>
          <p:cNvSpPr txBox="1"/>
          <p:nvPr>
            <p:ph idx="1" type="body"/>
          </p:nvPr>
        </p:nvSpPr>
        <p:spPr>
          <a:xfrm>
            <a:off x="4572000" y="940750"/>
            <a:ext cx="3483900" cy="344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200"/>
          </a:p>
          <a:p>
            <a:pPr indent="-304800" lvl="0" marL="457200" rtl="0" algn="l">
              <a:spcBef>
                <a:spcPts val="1200"/>
              </a:spcBef>
              <a:spcAft>
                <a:spcPts val="0"/>
              </a:spcAft>
              <a:buSzPts val="1200"/>
              <a:buChar char="●"/>
            </a:pPr>
            <a:r>
              <a:rPr lang="en-GB" sz="1200"/>
              <a:t>Analysis of text length and </a:t>
            </a:r>
            <a:r>
              <a:rPr lang="en-GB" sz="1200"/>
              <a:t>unique</a:t>
            </a:r>
            <a:r>
              <a:rPr lang="en-GB" sz="1200"/>
              <a:t> vocabulary shows that both are unlikely to be a good indicator with similar medians and IQR, as it will </a:t>
            </a:r>
            <a:r>
              <a:rPr lang="en-GB" sz="1200"/>
              <a:t>fail to discriminate strongly between adjacent classes</a:t>
            </a:r>
            <a:endParaRPr sz="1200"/>
          </a:p>
        </p:txBody>
      </p:sp>
      <p:pic>
        <p:nvPicPr>
          <p:cNvPr id="102" name="Google Shape;102;p15"/>
          <p:cNvPicPr preferRelativeResize="0"/>
          <p:nvPr/>
        </p:nvPicPr>
        <p:blipFill>
          <a:blip r:embed="rId3">
            <a:alphaModFix/>
          </a:blip>
          <a:stretch>
            <a:fillRect/>
          </a:stretch>
        </p:blipFill>
        <p:spPr>
          <a:xfrm>
            <a:off x="52775" y="3415675"/>
            <a:ext cx="1750101" cy="1307026"/>
          </a:xfrm>
          <a:prstGeom prst="rect">
            <a:avLst/>
          </a:prstGeom>
          <a:noFill/>
          <a:ln>
            <a:noFill/>
          </a:ln>
        </p:spPr>
      </p:pic>
      <p:pic>
        <p:nvPicPr>
          <p:cNvPr id="103" name="Google Shape;103;p15"/>
          <p:cNvPicPr preferRelativeResize="0"/>
          <p:nvPr/>
        </p:nvPicPr>
        <p:blipFill>
          <a:blip r:embed="rId4">
            <a:alphaModFix/>
          </a:blip>
          <a:stretch>
            <a:fillRect/>
          </a:stretch>
        </p:blipFill>
        <p:spPr>
          <a:xfrm>
            <a:off x="1802875" y="3415175"/>
            <a:ext cx="2253098" cy="1443699"/>
          </a:xfrm>
          <a:prstGeom prst="rect">
            <a:avLst/>
          </a:prstGeom>
          <a:noFill/>
          <a:ln>
            <a:noFill/>
          </a:ln>
        </p:spPr>
      </p:pic>
      <p:pic>
        <p:nvPicPr>
          <p:cNvPr id="104" name="Google Shape;104;p15"/>
          <p:cNvPicPr preferRelativeResize="0"/>
          <p:nvPr/>
        </p:nvPicPr>
        <p:blipFill>
          <a:blip r:embed="rId5">
            <a:alphaModFix/>
          </a:blip>
          <a:stretch>
            <a:fillRect/>
          </a:stretch>
        </p:blipFill>
        <p:spPr>
          <a:xfrm>
            <a:off x="6201075" y="3219052"/>
            <a:ext cx="2866725" cy="1560298"/>
          </a:xfrm>
          <a:prstGeom prst="rect">
            <a:avLst/>
          </a:prstGeom>
          <a:noFill/>
          <a:ln>
            <a:noFill/>
          </a:ln>
        </p:spPr>
      </p:pic>
      <p:sp>
        <p:nvSpPr>
          <p:cNvPr id="105" name="Google Shape;105;p15"/>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800"/>
              <a:t>EDA</a:t>
            </a:r>
            <a:endParaRPr sz="2800"/>
          </a:p>
          <a:p>
            <a:pPr indent="0" lvl="0" marL="0" rtl="0" algn="l">
              <a:spcBef>
                <a:spcPts val="0"/>
              </a:spcBef>
              <a:spcAft>
                <a:spcPts val="0"/>
              </a:spcAft>
              <a:buNone/>
            </a:pPr>
            <a:r>
              <a:t/>
            </a:r>
            <a:endParaRPr/>
          </a:p>
        </p:txBody>
      </p:sp>
      <p:pic>
        <p:nvPicPr>
          <p:cNvPr id="106" name="Google Shape;106;p15"/>
          <p:cNvPicPr preferRelativeResize="0"/>
          <p:nvPr/>
        </p:nvPicPr>
        <p:blipFill>
          <a:blip r:embed="rId6">
            <a:alphaModFix/>
          </a:blip>
          <a:stretch>
            <a:fillRect/>
          </a:stretch>
        </p:blipFill>
        <p:spPr>
          <a:xfrm>
            <a:off x="4142616" y="3219050"/>
            <a:ext cx="2058460" cy="17033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ph idx="1" type="body"/>
          </p:nvPr>
        </p:nvSpPr>
        <p:spPr>
          <a:xfrm>
            <a:off x="4572000" y="940750"/>
            <a:ext cx="4062300" cy="344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200"/>
              <a:t>Preprocessing:</a:t>
            </a:r>
            <a:endParaRPr sz="1200"/>
          </a:p>
          <a:p>
            <a:pPr indent="-304800" lvl="0" marL="457200" rtl="0" algn="l">
              <a:spcBef>
                <a:spcPts val="1200"/>
              </a:spcBef>
              <a:spcAft>
                <a:spcPts val="0"/>
              </a:spcAft>
              <a:buSzPts val="1200"/>
              <a:buChar char="●"/>
            </a:pPr>
            <a:r>
              <a:rPr lang="en-GB" sz="1200"/>
              <a:t>Drop Source due to being a 1:1 predictor of bias</a:t>
            </a:r>
            <a:endParaRPr sz="1200"/>
          </a:p>
          <a:p>
            <a:pPr indent="-304800" lvl="0" marL="457200" rtl="0" algn="l">
              <a:spcBef>
                <a:spcPts val="0"/>
              </a:spcBef>
              <a:spcAft>
                <a:spcPts val="0"/>
              </a:spcAft>
              <a:buSzPts val="1200"/>
              <a:buChar char="●"/>
            </a:pPr>
            <a:r>
              <a:rPr lang="en-GB" sz="1200"/>
              <a:t>Remove source names from article text to remove bias indicator </a:t>
            </a:r>
            <a:br>
              <a:rPr lang="en-GB" sz="1200"/>
            </a:br>
            <a:endParaRPr sz="1200"/>
          </a:p>
          <a:p>
            <a:pPr indent="-304800" lvl="0" marL="457200" rtl="0" algn="l">
              <a:spcBef>
                <a:spcPts val="0"/>
              </a:spcBef>
              <a:spcAft>
                <a:spcPts val="0"/>
              </a:spcAft>
              <a:buSzPts val="1200"/>
              <a:buChar char="●"/>
            </a:pPr>
            <a:r>
              <a:rPr lang="en-GB" sz="1200"/>
              <a:t>For TD-IDF in decision tree and FFNN, </a:t>
            </a:r>
            <a:br>
              <a:rPr lang="en-GB" sz="1200"/>
            </a:br>
            <a:r>
              <a:rPr lang="en-GB" sz="1200"/>
              <a:t>apply stemming, remove numbers and punctuation </a:t>
            </a:r>
            <a:endParaRPr sz="1200"/>
          </a:p>
          <a:p>
            <a:pPr indent="-304800" lvl="0" marL="457200" rtl="0" algn="l">
              <a:spcBef>
                <a:spcPts val="0"/>
              </a:spcBef>
              <a:spcAft>
                <a:spcPts val="0"/>
              </a:spcAft>
              <a:buSzPts val="1200"/>
              <a:buChar char="●"/>
            </a:pPr>
            <a:r>
              <a:rPr lang="en-GB" sz="1200"/>
              <a:t>For LSTM, BERT and Llama, use full words (retain numbers and punctuation) </a:t>
            </a:r>
            <a:br>
              <a:rPr lang="en-GB" sz="1200"/>
            </a:br>
            <a:endParaRPr sz="1200"/>
          </a:p>
          <a:p>
            <a:pPr indent="-304800" lvl="0" marL="457200" rtl="0" algn="l">
              <a:spcBef>
                <a:spcPts val="0"/>
              </a:spcBef>
              <a:spcAft>
                <a:spcPts val="0"/>
              </a:spcAft>
              <a:buSzPts val="1200"/>
              <a:buChar char="●"/>
            </a:pPr>
            <a:r>
              <a:rPr lang="en-GB" sz="1200"/>
              <a:t>Split into test and train </a:t>
            </a:r>
            <a:endParaRPr sz="1200"/>
          </a:p>
        </p:txBody>
      </p:sp>
      <p:sp>
        <p:nvSpPr>
          <p:cNvPr id="112" name="Google Shape;112;p16"/>
          <p:cNvSpPr txBox="1"/>
          <p:nvPr>
            <p:ph idx="1" type="body"/>
          </p:nvPr>
        </p:nvSpPr>
        <p:spPr>
          <a:xfrm>
            <a:off x="729450" y="940750"/>
            <a:ext cx="3483900" cy="34440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GB" sz="1200"/>
              <a:t>Word clouds and LDA charts for every label shows that all bias address Trump as the top content</a:t>
            </a:r>
            <a:endParaRPr sz="1200"/>
          </a:p>
          <a:p>
            <a:pPr indent="-304800" lvl="0" marL="457200" rtl="0" algn="l">
              <a:spcBef>
                <a:spcPts val="0"/>
              </a:spcBef>
              <a:spcAft>
                <a:spcPts val="0"/>
              </a:spcAft>
              <a:buSzPts val="1200"/>
              <a:buChar char="●"/>
            </a:pPr>
            <a:r>
              <a:rPr lang="en-GB" sz="1200"/>
              <a:t>Hence again we do not expect vocabulary to be a strong indicator </a:t>
            </a:r>
            <a:endParaRPr sz="1200"/>
          </a:p>
        </p:txBody>
      </p:sp>
      <p:pic>
        <p:nvPicPr>
          <p:cNvPr id="113" name="Google Shape;113;p16"/>
          <p:cNvPicPr preferRelativeResize="0"/>
          <p:nvPr/>
        </p:nvPicPr>
        <p:blipFill>
          <a:blip r:embed="rId3">
            <a:alphaModFix/>
          </a:blip>
          <a:stretch>
            <a:fillRect/>
          </a:stretch>
        </p:blipFill>
        <p:spPr>
          <a:xfrm>
            <a:off x="1292950" y="2223200"/>
            <a:ext cx="3050602" cy="1655939"/>
          </a:xfrm>
          <a:prstGeom prst="rect">
            <a:avLst/>
          </a:prstGeom>
          <a:noFill/>
          <a:ln cap="flat" cmpd="sng" w="9525">
            <a:solidFill>
              <a:srgbClr val="B7B7B7"/>
            </a:solidFill>
            <a:prstDash val="solid"/>
            <a:round/>
            <a:headEnd len="sm" w="sm" type="none"/>
            <a:tailEnd len="sm" w="sm" type="none"/>
          </a:ln>
        </p:spPr>
      </p:pic>
      <p:pic>
        <p:nvPicPr>
          <p:cNvPr id="114" name="Google Shape;114;p16"/>
          <p:cNvPicPr preferRelativeResize="0"/>
          <p:nvPr/>
        </p:nvPicPr>
        <p:blipFill>
          <a:blip r:embed="rId4">
            <a:alphaModFix/>
          </a:blip>
          <a:stretch>
            <a:fillRect/>
          </a:stretch>
        </p:blipFill>
        <p:spPr>
          <a:xfrm>
            <a:off x="628901" y="3147092"/>
            <a:ext cx="2871602" cy="1827157"/>
          </a:xfrm>
          <a:prstGeom prst="rect">
            <a:avLst/>
          </a:prstGeom>
          <a:noFill/>
          <a:ln cap="flat" cmpd="sng" w="9525">
            <a:solidFill>
              <a:srgbClr val="666666"/>
            </a:solidFill>
            <a:prstDash val="solid"/>
            <a:round/>
            <a:headEnd len="sm" w="sm" type="none"/>
            <a:tailEnd len="sm" w="sm" type="none"/>
          </a:ln>
        </p:spPr>
      </p:pic>
      <p:sp>
        <p:nvSpPr>
          <p:cNvPr id="115" name="Google Shape;115;p16"/>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800"/>
              <a:t>EDA</a:t>
            </a:r>
            <a:endParaRPr sz="2800"/>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17"/>
          <p:cNvPicPr preferRelativeResize="0"/>
          <p:nvPr/>
        </p:nvPicPr>
        <p:blipFill>
          <a:blip r:embed="rId3">
            <a:alphaModFix/>
          </a:blip>
          <a:stretch>
            <a:fillRect/>
          </a:stretch>
        </p:blipFill>
        <p:spPr>
          <a:xfrm>
            <a:off x="3627075" y="3148225"/>
            <a:ext cx="4020963" cy="1995275"/>
          </a:xfrm>
          <a:prstGeom prst="rect">
            <a:avLst/>
          </a:prstGeom>
          <a:noFill/>
          <a:ln>
            <a:noFill/>
          </a:ln>
        </p:spPr>
      </p:pic>
      <p:sp>
        <p:nvSpPr>
          <p:cNvPr id="121" name="Google Shape;121;p17"/>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Scrapper</a:t>
            </a:r>
            <a:endParaRPr/>
          </a:p>
        </p:txBody>
      </p:sp>
      <p:sp>
        <p:nvSpPr>
          <p:cNvPr id="122" name="Google Shape;122;p17"/>
          <p:cNvSpPr txBox="1"/>
          <p:nvPr>
            <p:ph idx="1" type="body"/>
          </p:nvPr>
        </p:nvSpPr>
        <p:spPr>
          <a:xfrm>
            <a:off x="729450" y="940750"/>
            <a:ext cx="2480700" cy="3444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GB" sz="1000"/>
              <a:t>To deal with imbalance:</a:t>
            </a:r>
            <a:endParaRPr b="1" sz="1000"/>
          </a:p>
          <a:p>
            <a:pPr indent="-292100" lvl="0" marL="457200" rtl="0" algn="l">
              <a:spcBef>
                <a:spcPts val="1200"/>
              </a:spcBef>
              <a:spcAft>
                <a:spcPts val="0"/>
              </a:spcAft>
              <a:buSzPts val="1000"/>
              <a:buChar char="●"/>
            </a:pPr>
            <a:r>
              <a:rPr lang="en-GB" sz="1000"/>
              <a:t>Develop a scrapper in parallel to augment data for classes with lower representations</a:t>
            </a:r>
            <a:endParaRPr sz="1000"/>
          </a:p>
          <a:p>
            <a:pPr indent="-292100" lvl="0" marL="457200" rtl="0" algn="l">
              <a:spcBef>
                <a:spcPts val="0"/>
              </a:spcBef>
              <a:spcAft>
                <a:spcPts val="0"/>
              </a:spcAft>
              <a:buSzPts val="1000"/>
              <a:buChar char="●"/>
            </a:pPr>
            <a:r>
              <a:rPr lang="en-GB" sz="1000"/>
              <a:t>Data needed: </a:t>
            </a:r>
            <a:br>
              <a:rPr lang="en-GB" sz="1000"/>
            </a:br>
            <a:r>
              <a:rPr lang="en-GB" sz="1000"/>
              <a:t>full text, source and bias label</a:t>
            </a:r>
            <a:br>
              <a:rPr lang="en-GB" sz="1000"/>
            </a:br>
            <a:endParaRPr sz="1000"/>
          </a:p>
          <a:p>
            <a:pPr indent="-292100" lvl="0" marL="457200" rtl="0" algn="l">
              <a:spcBef>
                <a:spcPts val="0"/>
              </a:spcBef>
              <a:spcAft>
                <a:spcPts val="0"/>
              </a:spcAft>
              <a:buSzPts val="1000"/>
              <a:buChar char="●"/>
            </a:pPr>
            <a:r>
              <a:rPr lang="en-GB" sz="1000"/>
              <a:t>Built with selenium</a:t>
            </a:r>
            <a:br>
              <a:rPr lang="en-GB" sz="1000"/>
            </a:br>
            <a:endParaRPr sz="1000"/>
          </a:p>
          <a:p>
            <a:pPr indent="-292100" lvl="0" marL="457200" rtl="0" algn="l">
              <a:spcBef>
                <a:spcPts val="0"/>
              </a:spcBef>
              <a:spcAft>
                <a:spcPts val="0"/>
              </a:spcAft>
              <a:buSzPts val="1000"/>
              <a:buChar char="●"/>
            </a:pPr>
            <a:r>
              <a:rPr lang="en-GB" sz="1000"/>
              <a:t>For allsides, we wrote a script to scrape news from the allsides.com website, focusing on general news each day, sampling roughly equal from a broader category (left, center, and right) to balance our dataset</a:t>
            </a:r>
            <a:br>
              <a:rPr lang="en-GB" sz="1000"/>
            </a:br>
            <a:endParaRPr sz="1000"/>
          </a:p>
          <a:p>
            <a:pPr indent="-292100" lvl="0" marL="457200" rtl="0" algn="l">
              <a:spcBef>
                <a:spcPts val="0"/>
              </a:spcBef>
              <a:spcAft>
                <a:spcPts val="0"/>
              </a:spcAft>
              <a:buSzPts val="1000"/>
              <a:buChar char="●"/>
            </a:pPr>
            <a:r>
              <a:rPr lang="en-GB" sz="1000"/>
              <a:t>For news api, only worldnewsapi gave the required data though it was limited and required augmentation </a:t>
            </a:r>
            <a:endParaRPr sz="1000"/>
          </a:p>
        </p:txBody>
      </p:sp>
      <p:pic>
        <p:nvPicPr>
          <p:cNvPr id="123" name="Google Shape;123;p17" title="Screenshot 2025-05-02 at 14.45.07.png"/>
          <p:cNvPicPr preferRelativeResize="0"/>
          <p:nvPr/>
        </p:nvPicPr>
        <p:blipFill>
          <a:blip r:embed="rId4">
            <a:alphaModFix/>
          </a:blip>
          <a:stretch>
            <a:fillRect/>
          </a:stretch>
        </p:blipFill>
        <p:spPr>
          <a:xfrm>
            <a:off x="3798025" y="922825"/>
            <a:ext cx="5229957" cy="1887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8"/>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800"/>
              <a:t>Project Flow</a:t>
            </a:r>
            <a:endParaRPr sz="2800"/>
          </a:p>
          <a:p>
            <a:pPr indent="0" lvl="0" marL="0" rtl="0" algn="l">
              <a:spcBef>
                <a:spcPts val="0"/>
              </a:spcBef>
              <a:spcAft>
                <a:spcPts val="0"/>
              </a:spcAft>
              <a:buNone/>
            </a:pPr>
            <a:r>
              <a:t/>
            </a:r>
            <a:endParaRPr/>
          </a:p>
        </p:txBody>
      </p:sp>
      <p:pic>
        <p:nvPicPr>
          <p:cNvPr id="129" name="Google Shape;129;p18" title="Screenshot 2025-05-02 at 15.52.04.png"/>
          <p:cNvPicPr preferRelativeResize="0"/>
          <p:nvPr/>
        </p:nvPicPr>
        <p:blipFill rotWithShape="1">
          <a:blip r:embed="rId3">
            <a:alphaModFix/>
          </a:blip>
          <a:srcRect b="0" l="0" r="0" t="5356"/>
          <a:stretch/>
        </p:blipFill>
        <p:spPr>
          <a:xfrm>
            <a:off x="1262850" y="1068675"/>
            <a:ext cx="6809425" cy="39224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800"/>
              <a:t>Model 1 - Headline Metrics Performance</a:t>
            </a:r>
            <a:endParaRPr sz="2800"/>
          </a:p>
          <a:p>
            <a:pPr indent="0" lvl="0" marL="0" rtl="0" algn="l">
              <a:spcBef>
                <a:spcPts val="0"/>
              </a:spcBef>
              <a:spcAft>
                <a:spcPts val="0"/>
              </a:spcAft>
              <a:buNone/>
            </a:pPr>
            <a:r>
              <a:t/>
            </a:r>
            <a:endParaRPr/>
          </a:p>
        </p:txBody>
      </p:sp>
      <p:pic>
        <p:nvPicPr>
          <p:cNvPr id="135" name="Google Shape;135;p19" title="Chart"/>
          <p:cNvPicPr preferRelativeResize="0"/>
          <p:nvPr/>
        </p:nvPicPr>
        <p:blipFill>
          <a:blip r:embed="rId3">
            <a:alphaModFix/>
          </a:blip>
          <a:stretch>
            <a:fillRect/>
          </a:stretch>
        </p:blipFill>
        <p:spPr>
          <a:xfrm>
            <a:off x="341625" y="1357375"/>
            <a:ext cx="4194075" cy="2593325"/>
          </a:xfrm>
          <a:prstGeom prst="rect">
            <a:avLst/>
          </a:prstGeom>
          <a:noFill/>
          <a:ln cap="flat" cmpd="sng" w="9525">
            <a:solidFill>
              <a:srgbClr val="B7B7B7"/>
            </a:solidFill>
            <a:prstDash val="solid"/>
            <a:round/>
            <a:headEnd len="sm" w="sm" type="none"/>
            <a:tailEnd len="sm" w="sm" type="none"/>
          </a:ln>
        </p:spPr>
      </p:pic>
      <p:sp>
        <p:nvSpPr>
          <p:cNvPr id="136" name="Google Shape;136;p19"/>
          <p:cNvSpPr txBox="1"/>
          <p:nvPr>
            <p:ph idx="1" type="body"/>
          </p:nvPr>
        </p:nvSpPr>
        <p:spPr>
          <a:xfrm>
            <a:off x="4695275" y="1019200"/>
            <a:ext cx="4087500" cy="3684900"/>
          </a:xfrm>
          <a:prstGeom prst="rect">
            <a:avLst/>
          </a:prstGeom>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SzPct val="100000"/>
              <a:buChar char="●"/>
            </a:pPr>
            <a:r>
              <a:rPr lang="en-GB"/>
              <a:t>Decision Tree’s </a:t>
            </a:r>
            <a:r>
              <a:rPr lang="en-GB"/>
              <a:t>performance</a:t>
            </a:r>
            <a:r>
              <a:rPr lang="en-GB"/>
              <a:t> placed a benchmark of at least 60% for all subsequent models</a:t>
            </a:r>
            <a:endParaRPr/>
          </a:p>
          <a:p>
            <a:pPr indent="-304958" lvl="0" marL="457200" rtl="0" algn="l">
              <a:spcBef>
                <a:spcPts val="0"/>
              </a:spcBef>
              <a:spcAft>
                <a:spcPts val="0"/>
              </a:spcAft>
              <a:buSzPct val="100000"/>
              <a:buChar char="●"/>
            </a:pPr>
            <a:r>
              <a:rPr lang="en-GB"/>
              <a:t>FFNN (TD-IDF)</a:t>
            </a:r>
            <a:r>
              <a:rPr lang="en-GB"/>
              <a:t> has the highest performance overall, suggesting that traditional methods with bag of words representations retain </a:t>
            </a:r>
            <a:r>
              <a:rPr lang="en-GB"/>
              <a:t>strong baseline especially when paired with dense architecture on relatively shallow tasks </a:t>
            </a:r>
            <a:endParaRPr/>
          </a:p>
          <a:p>
            <a:pPr indent="-304958" lvl="0" marL="457200" rtl="0" algn="l">
              <a:spcBef>
                <a:spcPts val="0"/>
              </a:spcBef>
              <a:spcAft>
                <a:spcPts val="0"/>
              </a:spcAft>
              <a:buSzPct val="100000"/>
              <a:buChar char="●"/>
            </a:pPr>
            <a:r>
              <a:rPr lang="en-GB"/>
              <a:t>FFNN (GloVe) performed worst as expected due to purposeful mismatch in design</a:t>
            </a:r>
            <a:endParaRPr/>
          </a:p>
          <a:p>
            <a:pPr indent="-304958" lvl="0" marL="457200" rtl="0" algn="l">
              <a:spcBef>
                <a:spcPts val="0"/>
              </a:spcBef>
              <a:spcAft>
                <a:spcPts val="0"/>
              </a:spcAft>
              <a:buSzPct val="100000"/>
              <a:buChar char="●"/>
            </a:pPr>
            <a:r>
              <a:rPr lang="en-GB"/>
              <a:t>LSTM’s significant underperformance is surprising. We explore this further. </a:t>
            </a:r>
            <a:endParaRPr/>
          </a:p>
          <a:p>
            <a:pPr indent="-304958" lvl="0" marL="457200" rtl="0" algn="l">
              <a:spcBef>
                <a:spcPts val="0"/>
              </a:spcBef>
              <a:spcAft>
                <a:spcPts val="0"/>
              </a:spcAft>
              <a:buSzPct val="100000"/>
              <a:buChar char="●"/>
            </a:pPr>
            <a:r>
              <a:rPr lang="en-GB"/>
              <a:t>BERT performed well out of the box and performance suggests that optimizing the model for the task might be worth testing. </a:t>
            </a:r>
            <a:endParaRPr/>
          </a:p>
          <a:p>
            <a:pPr indent="-304958" lvl="0" marL="457200" rtl="0" algn="l">
              <a:spcBef>
                <a:spcPts val="0"/>
              </a:spcBef>
              <a:spcAft>
                <a:spcPts val="0"/>
              </a:spcAft>
              <a:buSzPct val="100000"/>
              <a:buChar char="●"/>
            </a:pPr>
            <a:r>
              <a:rPr lang="en-GB"/>
              <a:t>TinyLlama performed worse than BERT despite the higher complexity, but the loss metric signals fine tuning is needed</a:t>
            </a:r>
            <a:endParaRPr/>
          </a:p>
          <a:p>
            <a:pPr indent="-304958" lvl="0" marL="457200" rtl="0" algn="l">
              <a:spcBef>
                <a:spcPts val="0"/>
              </a:spcBef>
              <a:spcAft>
                <a:spcPts val="0"/>
              </a:spcAft>
              <a:buSzPct val="100000"/>
              <a:buChar char="●"/>
            </a:pPr>
            <a:r>
              <a:rPr lang="en-GB"/>
              <a:t>TinyLlama (LoRA) </a:t>
            </a:r>
            <a:r>
              <a:rPr lang="en-GB"/>
              <a:t>performed well out of the box, but required significant time and memory to train</a:t>
            </a:r>
            <a:endParaRPr/>
          </a:p>
        </p:txBody>
      </p:sp>
      <p:sp>
        <p:nvSpPr>
          <p:cNvPr id="137" name="Google Shape;137;p19"/>
          <p:cNvSpPr/>
          <p:nvPr/>
        </p:nvSpPr>
        <p:spPr>
          <a:xfrm>
            <a:off x="-1729950" y="311425"/>
            <a:ext cx="1574100" cy="9288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BEN</a:t>
            </a:r>
            <a:endParaRPr>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0"/>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800"/>
              <a:t>Decision Tree</a:t>
            </a:r>
            <a:endParaRPr sz="2800"/>
          </a:p>
          <a:p>
            <a:pPr indent="0" lvl="0" marL="0" rtl="0" algn="l">
              <a:spcBef>
                <a:spcPts val="0"/>
              </a:spcBef>
              <a:spcAft>
                <a:spcPts val="0"/>
              </a:spcAft>
              <a:buNone/>
            </a:pPr>
            <a:r>
              <a:t/>
            </a:r>
            <a:endParaRPr/>
          </a:p>
        </p:txBody>
      </p:sp>
      <p:pic>
        <p:nvPicPr>
          <p:cNvPr id="143" name="Google Shape;143;p20" title="Chart"/>
          <p:cNvPicPr preferRelativeResize="0"/>
          <p:nvPr/>
        </p:nvPicPr>
        <p:blipFill>
          <a:blip r:embed="rId3">
            <a:alphaModFix/>
          </a:blip>
          <a:stretch>
            <a:fillRect/>
          </a:stretch>
        </p:blipFill>
        <p:spPr>
          <a:xfrm>
            <a:off x="4455975" y="2295300"/>
            <a:ext cx="4167150" cy="2576675"/>
          </a:xfrm>
          <a:prstGeom prst="rect">
            <a:avLst/>
          </a:prstGeom>
          <a:noFill/>
          <a:ln cap="flat" cmpd="sng" w="9525">
            <a:solidFill>
              <a:srgbClr val="999999"/>
            </a:solidFill>
            <a:prstDash val="solid"/>
            <a:round/>
            <a:headEnd len="sm" w="sm" type="none"/>
            <a:tailEnd len="sm" w="sm" type="none"/>
          </a:ln>
        </p:spPr>
      </p:pic>
      <p:sp>
        <p:nvSpPr>
          <p:cNvPr id="144" name="Google Shape;144;p20"/>
          <p:cNvSpPr txBox="1"/>
          <p:nvPr>
            <p:ph idx="1" type="body"/>
          </p:nvPr>
        </p:nvSpPr>
        <p:spPr>
          <a:xfrm>
            <a:off x="729450" y="1321750"/>
            <a:ext cx="3423900" cy="29433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GB" sz="1200"/>
              <a:t>Three variants:</a:t>
            </a:r>
            <a:endParaRPr sz="1200"/>
          </a:p>
          <a:p>
            <a:pPr indent="-304800" lvl="1" marL="914400" rtl="0" algn="l">
              <a:spcBef>
                <a:spcPts val="0"/>
              </a:spcBef>
              <a:spcAft>
                <a:spcPts val="0"/>
              </a:spcAft>
              <a:buSzPts val="1200"/>
              <a:buChar char="○"/>
            </a:pPr>
            <a:r>
              <a:rPr lang="en-GB" sz="1200"/>
              <a:t>Unweighted</a:t>
            </a:r>
            <a:endParaRPr sz="1200"/>
          </a:p>
          <a:p>
            <a:pPr indent="-304800" lvl="1" marL="914400" rtl="0" algn="l">
              <a:spcBef>
                <a:spcPts val="0"/>
              </a:spcBef>
              <a:spcAft>
                <a:spcPts val="0"/>
              </a:spcAft>
              <a:buSzPts val="1200"/>
              <a:buChar char="○"/>
            </a:pPr>
            <a:r>
              <a:rPr lang="en-GB" sz="1200"/>
              <a:t>Weighted </a:t>
            </a:r>
            <a:endParaRPr sz="1200"/>
          </a:p>
          <a:p>
            <a:pPr indent="-304800" lvl="1" marL="914400" rtl="0" algn="l">
              <a:spcBef>
                <a:spcPts val="0"/>
              </a:spcBef>
              <a:spcAft>
                <a:spcPts val="0"/>
              </a:spcAft>
              <a:buSzPts val="1200"/>
              <a:buChar char="○"/>
            </a:pPr>
            <a:r>
              <a:rPr lang="en-GB" sz="1200"/>
              <a:t>Tuned</a:t>
            </a:r>
            <a:endParaRPr sz="1200"/>
          </a:p>
          <a:p>
            <a:pPr indent="-304800" lvl="0" marL="457200" rtl="0" algn="l">
              <a:spcBef>
                <a:spcPts val="0"/>
              </a:spcBef>
              <a:spcAft>
                <a:spcPts val="0"/>
              </a:spcAft>
              <a:buSzPts val="1200"/>
              <a:buChar char="●"/>
            </a:pPr>
            <a:r>
              <a:rPr lang="en-GB" sz="1200"/>
              <a:t>Headline metrics fell across three </a:t>
            </a:r>
            <a:r>
              <a:rPr lang="en-GB" sz="1200"/>
              <a:t>treatments</a:t>
            </a:r>
            <a:endParaRPr sz="1200"/>
          </a:p>
          <a:p>
            <a:pPr indent="-304800" lvl="0" marL="457200" rtl="0" algn="l">
              <a:spcBef>
                <a:spcPts val="0"/>
              </a:spcBef>
              <a:spcAft>
                <a:spcPts val="0"/>
              </a:spcAft>
              <a:buSzPts val="1200"/>
              <a:buChar char="●"/>
            </a:pPr>
            <a:r>
              <a:rPr lang="en-GB" sz="1200"/>
              <a:t>Examining confusion matrix and </a:t>
            </a:r>
            <a:br>
              <a:rPr lang="en-GB" sz="1200"/>
            </a:br>
            <a:r>
              <a:rPr lang="en-GB" sz="1200"/>
              <a:t>one vs rest ROC curves show that class separability improves </a:t>
            </a:r>
            <a:endParaRPr sz="1200"/>
          </a:p>
          <a:p>
            <a:pPr indent="-304800" lvl="0" marL="457200" rtl="0" algn="l">
              <a:spcBef>
                <a:spcPts val="0"/>
              </a:spcBef>
              <a:spcAft>
                <a:spcPts val="0"/>
              </a:spcAft>
              <a:buSzPts val="1200"/>
              <a:buChar char="●"/>
            </a:pPr>
            <a:r>
              <a:rPr lang="en-GB" sz="1200"/>
              <a:t>Hence all future models adopt weighting and tuning  </a:t>
            </a:r>
            <a:endParaRPr sz="1200"/>
          </a:p>
        </p:txBody>
      </p:sp>
      <p:pic>
        <p:nvPicPr>
          <p:cNvPr id="145" name="Google Shape;145;p20"/>
          <p:cNvPicPr preferRelativeResize="0"/>
          <p:nvPr/>
        </p:nvPicPr>
        <p:blipFill>
          <a:blip r:embed="rId4">
            <a:alphaModFix/>
          </a:blip>
          <a:stretch>
            <a:fillRect/>
          </a:stretch>
        </p:blipFill>
        <p:spPr>
          <a:xfrm>
            <a:off x="4455975" y="549416"/>
            <a:ext cx="1951351" cy="1551610"/>
          </a:xfrm>
          <a:prstGeom prst="rect">
            <a:avLst/>
          </a:prstGeom>
          <a:noFill/>
          <a:ln cap="flat" cmpd="sng" w="9525">
            <a:solidFill>
              <a:srgbClr val="999999"/>
            </a:solidFill>
            <a:prstDash val="solid"/>
            <a:round/>
            <a:headEnd len="sm" w="sm" type="none"/>
            <a:tailEnd len="sm" w="sm" type="none"/>
          </a:ln>
        </p:spPr>
      </p:pic>
      <p:pic>
        <p:nvPicPr>
          <p:cNvPr id="146" name="Google Shape;146;p20"/>
          <p:cNvPicPr preferRelativeResize="0"/>
          <p:nvPr/>
        </p:nvPicPr>
        <p:blipFill>
          <a:blip r:embed="rId5">
            <a:alphaModFix/>
          </a:blip>
          <a:stretch>
            <a:fillRect/>
          </a:stretch>
        </p:blipFill>
        <p:spPr>
          <a:xfrm>
            <a:off x="6520450" y="439078"/>
            <a:ext cx="2166700" cy="17722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idx="1" type="body"/>
          </p:nvPr>
        </p:nvSpPr>
        <p:spPr>
          <a:xfrm>
            <a:off x="729450" y="1093150"/>
            <a:ext cx="7688700" cy="12501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GB"/>
              <a:t>Smaller range in hyperparameters gridsearch due to compute constraints </a:t>
            </a:r>
            <a:endParaRPr/>
          </a:p>
          <a:p>
            <a:pPr indent="-311150" lvl="0" marL="457200" rtl="0" algn="l">
              <a:spcBef>
                <a:spcPts val="0"/>
              </a:spcBef>
              <a:spcAft>
                <a:spcPts val="0"/>
              </a:spcAft>
              <a:buSzPts val="1300"/>
              <a:buChar char="●"/>
            </a:pPr>
            <a:r>
              <a:rPr lang="en-GB"/>
              <a:t>Early stop at epoch 6</a:t>
            </a:r>
            <a:endParaRPr/>
          </a:p>
          <a:p>
            <a:pPr indent="-311150" lvl="0" marL="457200" rtl="0" algn="l">
              <a:spcBef>
                <a:spcPts val="0"/>
              </a:spcBef>
              <a:spcAft>
                <a:spcPts val="0"/>
              </a:spcAft>
              <a:buSzPts val="1300"/>
              <a:buChar char="●"/>
            </a:pPr>
            <a:r>
              <a:rPr lang="en-GB"/>
              <a:t>Model shows confusion between opposite ends of the spectrum with samples of true left and true right being distributed across all classes indicating that a more balanced data set could be advantageous </a:t>
            </a:r>
            <a:endParaRPr/>
          </a:p>
        </p:txBody>
      </p:sp>
      <p:sp>
        <p:nvSpPr>
          <p:cNvPr id="152" name="Google Shape;152;p21"/>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800"/>
              <a:t>LSTM</a:t>
            </a:r>
            <a:endParaRPr sz="2800"/>
          </a:p>
          <a:p>
            <a:pPr indent="0" lvl="0" marL="0" rtl="0" algn="l">
              <a:spcBef>
                <a:spcPts val="0"/>
              </a:spcBef>
              <a:spcAft>
                <a:spcPts val="0"/>
              </a:spcAft>
              <a:buNone/>
            </a:pPr>
            <a:r>
              <a:t/>
            </a:r>
            <a:endParaRPr/>
          </a:p>
        </p:txBody>
      </p:sp>
      <p:pic>
        <p:nvPicPr>
          <p:cNvPr id="153" name="Google Shape;153;p21" title="Screenshot 2025-05-02 at 20.47.18.png"/>
          <p:cNvPicPr preferRelativeResize="0"/>
          <p:nvPr/>
        </p:nvPicPr>
        <p:blipFill>
          <a:blip r:embed="rId3">
            <a:alphaModFix/>
          </a:blip>
          <a:stretch>
            <a:fillRect/>
          </a:stretch>
        </p:blipFill>
        <p:spPr>
          <a:xfrm>
            <a:off x="282700" y="2571749"/>
            <a:ext cx="2464525" cy="971050"/>
          </a:xfrm>
          <a:prstGeom prst="rect">
            <a:avLst/>
          </a:prstGeom>
          <a:noFill/>
          <a:ln>
            <a:noFill/>
          </a:ln>
        </p:spPr>
      </p:pic>
      <p:pic>
        <p:nvPicPr>
          <p:cNvPr id="154" name="Google Shape;154;p21" title="Screenshot 2025-05-02 at 20.47.35.png"/>
          <p:cNvPicPr preferRelativeResize="0"/>
          <p:nvPr/>
        </p:nvPicPr>
        <p:blipFill>
          <a:blip r:embed="rId4">
            <a:alphaModFix/>
          </a:blip>
          <a:stretch>
            <a:fillRect/>
          </a:stretch>
        </p:blipFill>
        <p:spPr>
          <a:xfrm>
            <a:off x="282700" y="3619499"/>
            <a:ext cx="2464526" cy="1149570"/>
          </a:xfrm>
          <a:prstGeom prst="rect">
            <a:avLst/>
          </a:prstGeom>
          <a:noFill/>
          <a:ln>
            <a:noFill/>
          </a:ln>
        </p:spPr>
      </p:pic>
      <p:pic>
        <p:nvPicPr>
          <p:cNvPr id="155" name="Google Shape;155;p21"/>
          <p:cNvPicPr preferRelativeResize="0"/>
          <p:nvPr/>
        </p:nvPicPr>
        <p:blipFill>
          <a:blip r:embed="rId5">
            <a:alphaModFix/>
          </a:blip>
          <a:stretch>
            <a:fillRect/>
          </a:stretch>
        </p:blipFill>
        <p:spPr>
          <a:xfrm>
            <a:off x="2747225" y="2610387"/>
            <a:ext cx="3326195" cy="2209999"/>
          </a:xfrm>
          <a:prstGeom prst="rect">
            <a:avLst/>
          </a:prstGeom>
          <a:noFill/>
          <a:ln>
            <a:noFill/>
          </a:ln>
        </p:spPr>
      </p:pic>
      <p:pic>
        <p:nvPicPr>
          <p:cNvPr id="156" name="Google Shape;156;p21"/>
          <p:cNvPicPr preferRelativeResize="0"/>
          <p:nvPr/>
        </p:nvPicPr>
        <p:blipFill>
          <a:blip r:embed="rId6">
            <a:alphaModFix/>
          </a:blip>
          <a:stretch>
            <a:fillRect/>
          </a:stretch>
        </p:blipFill>
        <p:spPr>
          <a:xfrm>
            <a:off x="6204900" y="2571750"/>
            <a:ext cx="2728434" cy="21695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ph idx="1" type="body"/>
          </p:nvPr>
        </p:nvSpPr>
        <p:spPr>
          <a:xfrm>
            <a:off x="729450" y="955975"/>
            <a:ext cx="5606400" cy="1469400"/>
          </a:xfrm>
          <a:prstGeom prst="rect">
            <a:avLst/>
          </a:prstGeom>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SzPct val="100000"/>
              <a:buChar char="●"/>
            </a:pPr>
            <a:r>
              <a:rPr lang="en-GB"/>
              <a:t>The base model performed fairly well considering that we only used the pretrained model with an additional linear layer for classification.</a:t>
            </a:r>
            <a:endParaRPr/>
          </a:p>
          <a:p>
            <a:pPr indent="-304958" lvl="0" marL="457200" rtl="0" algn="l">
              <a:spcBef>
                <a:spcPts val="0"/>
              </a:spcBef>
              <a:spcAft>
                <a:spcPts val="0"/>
              </a:spcAft>
              <a:buSzPct val="100000"/>
              <a:buChar char="●"/>
            </a:pPr>
            <a:r>
              <a:rPr lang="en-GB"/>
              <a:t>The time complexity while high, was still within reason for a consumer grade GPU (RTX 3060) at 19s per epoch. Performance was also good for the time complexity, since we did not do any optimizations on the model.</a:t>
            </a:r>
            <a:endParaRPr/>
          </a:p>
          <a:p>
            <a:pPr indent="-304958" lvl="0" marL="457200" rtl="0" algn="l">
              <a:spcBef>
                <a:spcPts val="0"/>
              </a:spcBef>
              <a:spcAft>
                <a:spcPts val="0"/>
              </a:spcAft>
              <a:buSzPct val="100000"/>
              <a:buChar char="●"/>
            </a:pPr>
            <a:r>
              <a:rPr lang="en-GB"/>
              <a:t>There were some signs of overfitting when comparing the training and validation loss.</a:t>
            </a:r>
            <a:endParaRPr/>
          </a:p>
        </p:txBody>
      </p:sp>
      <p:sp>
        <p:nvSpPr>
          <p:cNvPr id="162" name="Google Shape;162;p22"/>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BERT</a:t>
            </a:r>
            <a:endParaRPr/>
          </a:p>
        </p:txBody>
      </p:sp>
      <p:pic>
        <p:nvPicPr>
          <p:cNvPr id="163" name="Google Shape;163;p22"/>
          <p:cNvPicPr preferRelativeResize="0"/>
          <p:nvPr/>
        </p:nvPicPr>
        <p:blipFill>
          <a:blip r:embed="rId3">
            <a:alphaModFix/>
          </a:blip>
          <a:stretch>
            <a:fillRect/>
          </a:stretch>
        </p:blipFill>
        <p:spPr>
          <a:xfrm>
            <a:off x="6520050" y="1087375"/>
            <a:ext cx="2392606" cy="1576250"/>
          </a:xfrm>
          <a:prstGeom prst="rect">
            <a:avLst/>
          </a:prstGeom>
          <a:noFill/>
          <a:ln>
            <a:noFill/>
          </a:ln>
        </p:spPr>
      </p:pic>
      <p:pic>
        <p:nvPicPr>
          <p:cNvPr id="164" name="Google Shape;164;p22"/>
          <p:cNvPicPr preferRelativeResize="0"/>
          <p:nvPr/>
        </p:nvPicPr>
        <p:blipFill>
          <a:blip r:embed="rId4">
            <a:alphaModFix/>
          </a:blip>
          <a:stretch>
            <a:fillRect/>
          </a:stretch>
        </p:blipFill>
        <p:spPr>
          <a:xfrm>
            <a:off x="6520049" y="2846098"/>
            <a:ext cx="2392600" cy="1926148"/>
          </a:xfrm>
          <a:prstGeom prst="rect">
            <a:avLst/>
          </a:prstGeom>
          <a:noFill/>
          <a:ln>
            <a:noFill/>
          </a:ln>
        </p:spPr>
      </p:pic>
      <p:pic>
        <p:nvPicPr>
          <p:cNvPr id="165" name="Google Shape;165;p22"/>
          <p:cNvPicPr preferRelativeResize="0"/>
          <p:nvPr/>
        </p:nvPicPr>
        <p:blipFill>
          <a:blip r:embed="rId5">
            <a:alphaModFix/>
          </a:blip>
          <a:stretch>
            <a:fillRect/>
          </a:stretch>
        </p:blipFill>
        <p:spPr>
          <a:xfrm>
            <a:off x="1208550" y="2925800"/>
            <a:ext cx="4402050" cy="1846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3"/>
          <p:cNvSpPr txBox="1"/>
          <p:nvPr>
            <p:ph idx="1" type="body"/>
          </p:nvPr>
        </p:nvSpPr>
        <p:spPr>
          <a:xfrm>
            <a:off x="729450" y="955975"/>
            <a:ext cx="4534200" cy="23916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GB"/>
              <a:t>Base TinyLlama model poor performance relative to the LoRA optimized version of TinyLlama, suggesting that the model needed more fine tuning before having task-specific strong performance.</a:t>
            </a:r>
            <a:endParaRPr/>
          </a:p>
          <a:p>
            <a:pPr indent="-311150" lvl="0" marL="457200" rtl="0" algn="l">
              <a:spcBef>
                <a:spcPts val="0"/>
              </a:spcBef>
              <a:spcAft>
                <a:spcPts val="0"/>
              </a:spcAft>
              <a:buSzPts val="1300"/>
              <a:buChar char="●"/>
            </a:pPr>
            <a:r>
              <a:rPr lang="en-GB"/>
              <a:t>The LoRA implementation did convert faster (13 vs 22 epochs) during training, which seems to </a:t>
            </a:r>
            <a:r>
              <a:rPr lang="en-GB"/>
              <a:t>outweigh the additional complexity added from the optimization.</a:t>
            </a:r>
            <a:endParaRPr/>
          </a:p>
          <a:p>
            <a:pPr indent="-311150" lvl="0" marL="457200" rtl="0" algn="l">
              <a:spcBef>
                <a:spcPts val="0"/>
              </a:spcBef>
              <a:spcAft>
                <a:spcPts val="0"/>
              </a:spcAft>
              <a:buSzPts val="1300"/>
              <a:buChar char="●"/>
            </a:pPr>
            <a:r>
              <a:rPr lang="en-GB"/>
              <a:t>Both the Base &amp; LoRA optimized version showed signs of overfit, but did generalize well relative to the other models.</a:t>
            </a:r>
            <a:endParaRPr/>
          </a:p>
        </p:txBody>
      </p:sp>
      <p:sp>
        <p:nvSpPr>
          <p:cNvPr id="171" name="Google Shape;171;p23"/>
          <p:cNvSpPr txBox="1"/>
          <p:nvPr>
            <p:ph type="title"/>
          </p:nvPr>
        </p:nvSpPr>
        <p:spPr>
          <a:xfrm>
            <a:off x="729450" y="311425"/>
            <a:ext cx="31440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Llama (Base &amp; LoRA)</a:t>
            </a:r>
            <a:endParaRPr/>
          </a:p>
        </p:txBody>
      </p:sp>
      <p:pic>
        <p:nvPicPr>
          <p:cNvPr id="172" name="Google Shape;172;p23"/>
          <p:cNvPicPr preferRelativeResize="0"/>
          <p:nvPr/>
        </p:nvPicPr>
        <p:blipFill>
          <a:blip r:embed="rId3">
            <a:alphaModFix/>
          </a:blip>
          <a:stretch>
            <a:fillRect/>
          </a:stretch>
        </p:blipFill>
        <p:spPr>
          <a:xfrm>
            <a:off x="6335850" y="2909800"/>
            <a:ext cx="2694799" cy="1167073"/>
          </a:xfrm>
          <a:prstGeom prst="rect">
            <a:avLst/>
          </a:prstGeom>
          <a:noFill/>
          <a:ln>
            <a:noFill/>
          </a:ln>
        </p:spPr>
      </p:pic>
      <p:sp>
        <p:nvSpPr>
          <p:cNvPr id="173" name="Google Shape;173;p23"/>
          <p:cNvSpPr txBox="1"/>
          <p:nvPr/>
        </p:nvSpPr>
        <p:spPr>
          <a:xfrm>
            <a:off x="6335850" y="2558200"/>
            <a:ext cx="678000" cy="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LoRA</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pic>
        <p:nvPicPr>
          <p:cNvPr id="174" name="Google Shape;174;p23"/>
          <p:cNvPicPr preferRelativeResize="0"/>
          <p:nvPr/>
        </p:nvPicPr>
        <p:blipFill>
          <a:blip r:embed="rId4">
            <a:alphaModFix/>
          </a:blip>
          <a:stretch>
            <a:fillRect/>
          </a:stretch>
        </p:blipFill>
        <p:spPr>
          <a:xfrm>
            <a:off x="6335858" y="857525"/>
            <a:ext cx="2694790" cy="1666300"/>
          </a:xfrm>
          <a:prstGeom prst="rect">
            <a:avLst/>
          </a:prstGeom>
          <a:noFill/>
          <a:ln>
            <a:noFill/>
          </a:ln>
        </p:spPr>
      </p:pic>
      <p:sp>
        <p:nvSpPr>
          <p:cNvPr id="175" name="Google Shape;175;p23"/>
          <p:cNvSpPr txBox="1"/>
          <p:nvPr/>
        </p:nvSpPr>
        <p:spPr>
          <a:xfrm>
            <a:off x="6280450" y="470350"/>
            <a:ext cx="1058400" cy="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Base</a:t>
            </a:r>
            <a:endParaRPr sz="1300">
              <a:solidFill>
                <a:schemeClr val="accent1"/>
              </a:solidFill>
              <a:latin typeface="Lato"/>
              <a:ea typeface="Lato"/>
              <a:cs typeface="Lato"/>
              <a:sym typeface="Lato"/>
            </a:endParaRPr>
          </a:p>
        </p:txBody>
      </p:sp>
      <p:pic>
        <p:nvPicPr>
          <p:cNvPr id="176" name="Google Shape;176;p23"/>
          <p:cNvPicPr preferRelativeResize="0"/>
          <p:nvPr/>
        </p:nvPicPr>
        <p:blipFill>
          <a:blip r:embed="rId5">
            <a:alphaModFix/>
          </a:blip>
          <a:stretch>
            <a:fillRect/>
          </a:stretch>
        </p:blipFill>
        <p:spPr>
          <a:xfrm>
            <a:off x="2531540" y="3187050"/>
            <a:ext cx="2420936" cy="1956450"/>
          </a:xfrm>
          <a:prstGeom prst="rect">
            <a:avLst/>
          </a:prstGeom>
          <a:noFill/>
          <a:ln>
            <a:noFill/>
          </a:ln>
        </p:spPr>
      </p:pic>
      <p:pic>
        <p:nvPicPr>
          <p:cNvPr id="177" name="Google Shape;177;p23"/>
          <p:cNvPicPr preferRelativeResize="0"/>
          <p:nvPr/>
        </p:nvPicPr>
        <p:blipFill>
          <a:blip r:embed="rId6">
            <a:alphaModFix/>
          </a:blip>
          <a:stretch>
            <a:fillRect/>
          </a:stretch>
        </p:blipFill>
        <p:spPr>
          <a:xfrm>
            <a:off x="178150" y="3187050"/>
            <a:ext cx="2353399" cy="1894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4"/>
          <p:cNvSpPr txBox="1"/>
          <p:nvPr>
            <p:ph idx="1" type="body"/>
          </p:nvPr>
        </p:nvSpPr>
        <p:spPr>
          <a:xfrm>
            <a:off x="4361400" y="1071250"/>
            <a:ext cx="4209000" cy="38748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Utilising the same model parameters found in the original runs,  the models were re-run with the augmented datasets</a:t>
            </a:r>
            <a:endParaRPr/>
          </a:p>
          <a:p>
            <a:pPr indent="-311150" lvl="0" marL="457200" rtl="0" algn="l">
              <a:spcBef>
                <a:spcPts val="0"/>
              </a:spcBef>
              <a:spcAft>
                <a:spcPts val="0"/>
              </a:spcAft>
              <a:buSzPts val="1300"/>
              <a:buChar char="●"/>
            </a:pPr>
            <a:r>
              <a:rPr lang="en-GB"/>
              <a:t>Slight falls for decision tree and FFNN (TD-IDF) were not expected, which indicated signs of overfitting previously </a:t>
            </a:r>
            <a:endParaRPr/>
          </a:p>
          <a:p>
            <a:pPr indent="-311150" lvl="0" marL="457200" rtl="0" algn="l">
              <a:spcBef>
                <a:spcPts val="0"/>
              </a:spcBef>
              <a:spcAft>
                <a:spcPts val="0"/>
              </a:spcAft>
              <a:buSzPts val="1300"/>
              <a:buChar char="●"/>
            </a:pPr>
            <a:r>
              <a:rPr lang="en-GB"/>
              <a:t>Dismal performance for FFNN (GloVe) not improving was also expected. </a:t>
            </a:r>
            <a:endParaRPr/>
          </a:p>
          <a:p>
            <a:pPr indent="-311150" lvl="0" marL="457200" rtl="0" algn="l">
              <a:spcBef>
                <a:spcPts val="0"/>
              </a:spcBef>
              <a:spcAft>
                <a:spcPts val="0"/>
              </a:spcAft>
              <a:buSzPts val="1300"/>
              <a:buChar char="●"/>
            </a:pPr>
            <a:r>
              <a:rPr lang="en-GB"/>
              <a:t>While we expected performance to increase across the board, of note are the dramatic increases in performance for LSTM and BERT </a:t>
            </a:r>
            <a:endParaRPr/>
          </a:p>
          <a:p>
            <a:pPr indent="-311150" lvl="0" marL="457200" rtl="0" algn="l">
              <a:spcBef>
                <a:spcPts val="0"/>
              </a:spcBef>
              <a:spcAft>
                <a:spcPts val="0"/>
              </a:spcAft>
              <a:buSzPts val="1300"/>
              <a:buChar char="●"/>
            </a:pPr>
            <a:r>
              <a:rPr lang="en-GB"/>
              <a:t>While BERT &amp; Llama (LoRA) increased significantly, it was surprising that Llama did not. This could have been due to Llama not being able to perform well with only an additional layer for classification.</a:t>
            </a:r>
            <a:endParaRPr/>
          </a:p>
        </p:txBody>
      </p:sp>
      <p:sp>
        <p:nvSpPr>
          <p:cNvPr id="183" name="Google Shape;183;p24"/>
          <p:cNvSpPr txBox="1"/>
          <p:nvPr>
            <p:ph type="title"/>
          </p:nvPr>
        </p:nvSpPr>
        <p:spPr>
          <a:xfrm>
            <a:off x="729450" y="311425"/>
            <a:ext cx="91440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800"/>
              <a:t>Model 2 - </a:t>
            </a:r>
            <a:r>
              <a:rPr lang="en-GB" sz="2800"/>
              <a:t>Retraining Headline Metrics Performance </a:t>
            </a:r>
            <a:endParaRPr/>
          </a:p>
        </p:txBody>
      </p:sp>
      <p:pic>
        <p:nvPicPr>
          <p:cNvPr id="184" name="Google Shape;184;p24" title="Points scored"/>
          <p:cNvPicPr preferRelativeResize="0"/>
          <p:nvPr/>
        </p:nvPicPr>
        <p:blipFill>
          <a:blip r:embed="rId3">
            <a:alphaModFix/>
          </a:blip>
          <a:stretch>
            <a:fillRect/>
          </a:stretch>
        </p:blipFill>
        <p:spPr>
          <a:xfrm>
            <a:off x="189225" y="1357375"/>
            <a:ext cx="4209000" cy="260257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5"/>
          <p:cNvSpPr txBox="1"/>
          <p:nvPr>
            <p:ph idx="1" type="body"/>
          </p:nvPr>
        </p:nvSpPr>
        <p:spPr>
          <a:xfrm>
            <a:off x="729450" y="1093150"/>
            <a:ext cx="8243100" cy="16494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GB"/>
              <a:t>Increase in sample size by 16% resulted in j</a:t>
            </a:r>
            <a:r>
              <a:rPr lang="en-GB"/>
              <a:t>ump in performance metrics</a:t>
            </a:r>
            <a:endParaRPr/>
          </a:p>
          <a:p>
            <a:pPr indent="-311150" lvl="0" marL="457200" rtl="0" algn="l">
              <a:spcBef>
                <a:spcPts val="0"/>
              </a:spcBef>
              <a:spcAft>
                <a:spcPts val="0"/>
              </a:spcAft>
              <a:buSzPts val="1300"/>
              <a:buChar char="●"/>
            </a:pPr>
            <a:r>
              <a:rPr lang="en-GB"/>
              <a:t>Accuracy: 37.76 to 66.51 </a:t>
            </a:r>
            <a:endParaRPr/>
          </a:p>
          <a:p>
            <a:pPr indent="-311150" lvl="0" marL="457200" rtl="0" algn="l">
              <a:spcBef>
                <a:spcPts val="0"/>
              </a:spcBef>
              <a:spcAft>
                <a:spcPts val="0"/>
              </a:spcAft>
              <a:buSzPts val="1300"/>
              <a:buChar char="●"/>
            </a:pPr>
            <a:r>
              <a:rPr lang="en-GB"/>
              <a:t>Weighted F1: 41.46 to 67.08 </a:t>
            </a:r>
            <a:endParaRPr/>
          </a:p>
          <a:p>
            <a:pPr indent="-311150" lvl="0" marL="457200" rtl="0" algn="l">
              <a:spcBef>
                <a:spcPts val="0"/>
              </a:spcBef>
              <a:spcAft>
                <a:spcPts val="0"/>
              </a:spcAft>
              <a:buSzPts val="1300"/>
              <a:buChar char="●"/>
            </a:pPr>
            <a:r>
              <a:rPr lang="en-GB"/>
              <a:t>Modest increase in data resolved ideological confusion and diagonal performance increased </a:t>
            </a:r>
            <a:endParaRPr/>
          </a:p>
          <a:p>
            <a:pPr indent="-311150" lvl="0" marL="457200" rtl="0" algn="l">
              <a:spcBef>
                <a:spcPts val="0"/>
              </a:spcBef>
              <a:spcAft>
                <a:spcPts val="0"/>
              </a:spcAft>
              <a:buSzPts val="1300"/>
              <a:buChar char="●"/>
            </a:pPr>
            <a:r>
              <a:rPr lang="en-GB"/>
              <a:t>S</a:t>
            </a:r>
            <a:r>
              <a:rPr lang="en-GB"/>
              <a:t>uggests that balanced data and sequential information are highly relevant for this classification task </a:t>
            </a:r>
            <a:endParaRPr/>
          </a:p>
          <a:p>
            <a:pPr indent="-311150" lvl="0" marL="457200" rtl="0" algn="l">
              <a:spcBef>
                <a:spcPts val="0"/>
              </a:spcBef>
              <a:spcAft>
                <a:spcPts val="0"/>
              </a:spcAft>
              <a:buSzPts val="1300"/>
              <a:buChar char="●"/>
            </a:pPr>
            <a:r>
              <a:rPr lang="en-GB"/>
              <a:t>With the expanded dataset, LSTM could leverage the additional contextual information, while the FFNN (GloVe) did not capture these patterns from averaged embeddings.</a:t>
            </a:r>
            <a:endParaRPr/>
          </a:p>
        </p:txBody>
      </p:sp>
      <p:sp>
        <p:nvSpPr>
          <p:cNvPr id="190" name="Google Shape;190;p25"/>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800"/>
              <a:t>LSTM</a:t>
            </a:r>
            <a:endParaRPr sz="2800"/>
          </a:p>
          <a:p>
            <a:pPr indent="0" lvl="0" marL="0" rtl="0" algn="l">
              <a:spcBef>
                <a:spcPts val="0"/>
              </a:spcBef>
              <a:spcAft>
                <a:spcPts val="0"/>
              </a:spcAft>
              <a:buNone/>
            </a:pPr>
            <a:r>
              <a:t/>
            </a:r>
            <a:endParaRPr/>
          </a:p>
        </p:txBody>
      </p:sp>
      <p:pic>
        <p:nvPicPr>
          <p:cNvPr id="191" name="Google Shape;191;p25"/>
          <p:cNvPicPr preferRelativeResize="0"/>
          <p:nvPr/>
        </p:nvPicPr>
        <p:blipFill>
          <a:blip r:embed="rId3">
            <a:alphaModFix/>
          </a:blip>
          <a:stretch>
            <a:fillRect/>
          </a:stretch>
        </p:blipFill>
        <p:spPr>
          <a:xfrm>
            <a:off x="3735050" y="2801300"/>
            <a:ext cx="2430224" cy="1932409"/>
          </a:xfrm>
          <a:prstGeom prst="rect">
            <a:avLst/>
          </a:prstGeom>
          <a:noFill/>
          <a:ln>
            <a:noFill/>
          </a:ln>
        </p:spPr>
      </p:pic>
      <p:pic>
        <p:nvPicPr>
          <p:cNvPr id="192" name="Google Shape;192;p25" title="Chart"/>
          <p:cNvPicPr preferRelativeResize="0"/>
          <p:nvPr/>
        </p:nvPicPr>
        <p:blipFill>
          <a:blip r:embed="rId4">
            <a:alphaModFix/>
          </a:blip>
          <a:stretch>
            <a:fillRect/>
          </a:stretch>
        </p:blipFill>
        <p:spPr>
          <a:xfrm>
            <a:off x="519850" y="2801300"/>
            <a:ext cx="3125175" cy="1932400"/>
          </a:xfrm>
          <a:prstGeom prst="rect">
            <a:avLst/>
          </a:prstGeom>
          <a:noFill/>
          <a:ln>
            <a:noFill/>
          </a:ln>
        </p:spPr>
      </p:pic>
      <p:pic>
        <p:nvPicPr>
          <p:cNvPr id="193" name="Google Shape;193;p25"/>
          <p:cNvPicPr preferRelativeResize="0"/>
          <p:nvPr/>
        </p:nvPicPr>
        <p:blipFill>
          <a:blip r:embed="rId5">
            <a:alphaModFix/>
          </a:blip>
          <a:stretch>
            <a:fillRect/>
          </a:stretch>
        </p:blipFill>
        <p:spPr>
          <a:xfrm>
            <a:off x="6199875" y="2801300"/>
            <a:ext cx="2430224" cy="1932400"/>
          </a:xfrm>
          <a:prstGeom prst="rect">
            <a:avLst/>
          </a:prstGeom>
          <a:noFill/>
          <a:ln>
            <a:noFill/>
          </a:ln>
        </p:spPr>
      </p:pic>
      <p:sp>
        <p:nvSpPr>
          <p:cNvPr id="194" name="Google Shape;194;p25"/>
          <p:cNvSpPr txBox="1"/>
          <p:nvPr/>
        </p:nvSpPr>
        <p:spPr>
          <a:xfrm>
            <a:off x="4561213" y="4733700"/>
            <a:ext cx="777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accent1"/>
                </a:solidFill>
                <a:latin typeface="Lato"/>
                <a:ea typeface="Lato"/>
                <a:cs typeface="Lato"/>
                <a:sym typeface="Lato"/>
              </a:rPr>
              <a:t>Before</a:t>
            </a:r>
            <a:endParaRPr b="1" sz="1300">
              <a:solidFill>
                <a:schemeClr val="accent1"/>
              </a:solidFill>
              <a:latin typeface="Lato"/>
              <a:ea typeface="Lato"/>
              <a:cs typeface="Lato"/>
              <a:sym typeface="Lato"/>
            </a:endParaRPr>
          </a:p>
        </p:txBody>
      </p:sp>
      <p:sp>
        <p:nvSpPr>
          <p:cNvPr id="195" name="Google Shape;195;p25"/>
          <p:cNvSpPr txBox="1"/>
          <p:nvPr/>
        </p:nvSpPr>
        <p:spPr>
          <a:xfrm>
            <a:off x="6994000" y="4733700"/>
            <a:ext cx="777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accent1"/>
                </a:solidFill>
                <a:latin typeface="Lato"/>
                <a:ea typeface="Lato"/>
                <a:cs typeface="Lato"/>
                <a:sym typeface="Lato"/>
              </a:rPr>
              <a:t>After</a:t>
            </a:r>
            <a:endParaRPr b="1" sz="1300">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6"/>
          <p:cNvSpPr txBox="1"/>
          <p:nvPr>
            <p:ph idx="1" type="body"/>
          </p:nvPr>
        </p:nvSpPr>
        <p:spPr>
          <a:xfrm>
            <a:off x="729450" y="955975"/>
            <a:ext cx="8034000" cy="1469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Performance for BERT &amp; TinyLlama (LoRA) improved significantly after using the augmented dataset. </a:t>
            </a:r>
            <a:endParaRPr/>
          </a:p>
          <a:p>
            <a:pPr indent="-311150" lvl="0" marL="457200" rtl="0" algn="l">
              <a:spcBef>
                <a:spcPts val="0"/>
              </a:spcBef>
              <a:spcAft>
                <a:spcPts val="0"/>
              </a:spcAft>
              <a:buSzPts val="1300"/>
              <a:buChar char="●"/>
            </a:pPr>
            <a:r>
              <a:rPr lang="en-GB"/>
              <a:t>TinyLlama (Base) only increased slightly, suggesting that fine tuning is required to adapt the model to classification (or other specific) tasks</a:t>
            </a:r>
            <a:endParaRPr/>
          </a:p>
          <a:p>
            <a:pPr indent="-311150" lvl="0" marL="457200" rtl="0" algn="l">
              <a:spcBef>
                <a:spcPts val="0"/>
              </a:spcBef>
              <a:spcAft>
                <a:spcPts val="0"/>
              </a:spcAft>
              <a:buSzPts val="1300"/>
              <a:buChar char="●"/>
            </a:pPr>
            <a:r>
              <a:rPr lang="en-GB"/>
              <a:t>Duration increased for all  3 models, around 1.5 times with the augmented dataset. Despite that, BERT was still running much quicker than TinyLlama, and yielded equivalent or better results.</a:t>
            </a:r>
            <a:endParaRPr/>
          </a:p>
        </p:txBody>
      </p:sp>
      <p:sp>
        <p:nvSpPr>
          <p:cNvPr id="201" name="Google Shape;201;p26"/>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Bert &amp; Llama</a:t>
            </a:r>
            <a:endParaRPr/>
          </a:p>
        </p:txBody>
      </p:sp>
      <p:pic>
        <p:nvPicPr>
          <p:cNvPr id="202" name="Google Shape;202;p26"/>
          <p:cNvPicPr preferRelativeResize="0"/>
          <p:nvPr/>
        </p:nvPicPr>
        <p:blipFill>
          <a:blip r:embed="rId3">
            <a:alphaModFix/>
          </a:blip>
          <a:stretch>
            <a:fillRect/>
          </a:stretch>
        </p:blipFill>
        <p:spPr>
          <a:xfrm>
            <a:off x="366825" y="2743775"/>
            <a:ext cx="4095750" cy="1866900"/>
          </a:xfrm>
          <a:prstGeom prst="rect">
            <a:avLst/>
          </a:prstGeom>
          <a:noFill/>
          <a:ln>
            <a:noFill/>
          </a:ln>
        </p:spPr>
      </p:pic>
      <p:pic>
        <p:nvPicPr>
          <p:cNvPr id="203" name="Google Shape;203;p26"/>
          <p:cNvPicPr preferRelativeResize="0"/>
          <p:nvPr/>
        </p:nvPicPr>
        <p:blipFill>
          <a:blip r:embed="rId4">
            <a:alphaModFix/>
          </a:blip>
          <a:stretch>
            <a:fillRect/>
          </a:stretch>
        </p:blipFill>
        <p:spPr>
          <a:xfrm>
            <a:off x="4725625" y="3543875"/>
            <a:ext cx="2905125" cy="1066800"/>
          </a:xfrm>
          <a:prstGeom prst="rect">
            <a:avLst/>
          </a:prstGeom>
          <a:noFill/>
          <a:ln>
            <a:noFill/>
          </a:ln>
        </p:spPr>
      </p:pic>
      <p:sp>
        <p:nvSpPr>
          <p:cNvPr id="204" name="Google Shape;204;p26"/>
          <p:cNvSpPr txBox="1"/>
          <p:nvPr/>
        </p:nvSpPr>
        <p:spPr>
          <a:xfrm>
            <a:off x="4655000" y="3223225"/>
            <a:ext cx="2912100" cy="4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Time per epoch</a:t>
            </a:r>
            <a:endParaRPr sz="1300">
              <a:solidFill>
                <a:schemeClr val="accent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7"/>
          <p:cNvSpPr txBox="1"/>
          <p:nvPr>
            <p:ph idx="1" type="body"/>
          </p:nvPr>
        </p:nvSpPr>
        <p:spPr>
          <a:xfrm>
            <a:off x="729450" y="1094500"/>
            <a:ext cx="7688700" cy="25299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b="1" lang="en-GB" sz="1200"/>
              <a:t>Baseline LSTM:</a:t>
            </a:r>
            <a:r>
              <a:rPr lang="en-GB" sz="1200"/>
              <a:t> Poor performance </a:t>
            </a:r>
            <a:endParaRPr sz="1200"/>
          </a:p>
          <a:p>
            <a:pPr indent="-304800" lvl="0" marL="457200" rtl="0" algn="l">
              <a:spcBef>
                <a:spcPts val="0"/>
              </a:spcBef>
              <a:spcAft>
                <a:spcPts val="0"/>
              </a:spcAft>
              <a:buSzPts val="1200"/>
              <a:buChar char="●"/>
            </a:pPr>
            <a:r>
              <a:rPr b="1" lang="en-GB" sz="1200"/>
              <a:t>LSTM with Combined Data:</a:t>
            </a:r>
            <a:r>
              <a:rPr lang="en-GB" sz="1200"/>
              <a:t> Significant performance boost showing that augmenting the dataset with real additional data substantially helps.</a:t>
            </a:r>
            <a:endParaRPr sz="1200"/>
          </a:p>
          <a:p>
            <a:pPr indent="-304800" lvl="0" marL="457200" rtl="0" algn="l">
              <a:spcBef>
                <a:spcPts val="0"/>
              </a:spcBef>
              <a:spcAft>
                <a:spcPts val="0"/>
              </a:spcAft>
              <a:buSzPts val="1200"/>
              <a:buChar char="●"/>
            </a:pPr>
            <a:r>
              <a:rPr b="1" lang="en-GB" sz="1200"/>
              <a:t>LSTM with Synthetic Data: </a:t>
            </a:r>
            <a:r>
              <a:rPr lang="en-GB" sz="1200"/>
              <a:t>Further marginal gains, suggesting diminishing returns but confirming the value of data augmentation, even when synthetic.</a:t>
            </a:r>
            <a:endParaRPr sz="1200"/>
          </a:p>
        </p:txBody>
      </p:sp>
      <p:sp>
        <p:nvSpPr>
          <p:cNvPr id="210" name="Google Shape;210;p27"/>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800"/>
              <a:t>Utilising Synthetic Data </a:t>
            </a:r>
            <a:endParaRPr/>
          </a:p>
        </p:txBody>
      </p:sp>
      <p:pic>
        <p:nvPicPr>
          <p:cNvPr id="211" name="Google Shape;211;p27"/>
          <p:cNvPicPr preferRelativeResize="0"/>
          <p:nvPr/>
        </p:nvPicPr>
        <p:blipFill>
          <a:blip r:embed="rId3">
            <a:alphaModFix/>
          </a:blip>
          <a:stretch>
            <a:fillRect/>
          </a:stretch>
        </p:blipFill>
        <p:spPr>
          <a:xfrm>
            <a:off x="498175" y="2507175"/>
            <a:ext cx="4548576" cy="2257075"/>
          </a:xfrm>
          <a:prstGeom prst="rect">
            <a:avLst/>
          </a:prstGeom>
          <a:noFill/>
          <a:ln cap="flat" cmpd="sng" w="9525">
            <a:solidFill>
              <a:srgbClr val="B7B7B7"/>
            </a:solidFill>
            <a:prstDash val="solid"/>
            <a:round/>
            <a:headEnd len="sm" w="sm" type="none"/>
            <a:tailEnd len="sm" w="sm" type="none"/>
          </a:ln>
        </p:spPr>
      </p:pic>
      <p:pic>
        <p:nvPicPr>
          <p:cNvPr id="212" name="Google Shape;212;p27" title="Chart"/>
          <p:cNvPicPr preferRelativeResize="0"/>
          <p:nvPr/>
        </p:nvPicPr>
        <p:blipFill>
          <a:blip r:embed="rId4">
            <a:alphaModFix/>
          </a:blip>
          <a:stretch>
            <a:fillRect/>
          </a:stretch>
        </p:blipFill>
        <p:spPr>
          <a:xfrm>
            <a:off x="5130900" y="2507175"/>
            <a:ext cx="3650253" cy="2257075"/>
          </a:xfrm>
          <a:prstGeom prst="rect">
            <a:avLst/>
          </a:prstGeom>
          <a:noFill/>
          <a:ln cap="flat" cmpd="sng" w="9525">
            <a:solidFill>
              <a:srgbClr val="999999"/>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Conclusion</a:t>
            </a:r>
            <a:endParaRPr/>
          </a:p>
        </p:txBody>
      </p:sp>
      <p:sp>
        <p:nvSpPr>
          <p:cNvPr id="218" name="Google Shape;218;p28"/>
          <p:cNvSpPr txBox="1"/>
          <p:nvPr>
            <p:ph idx="1" type="body"/>
          </p:nvPr>
        </p:nvSpPr>
        <p:spPr>
          <a:xfrm>
            <a:off x="729450" y="1147225"/>
            <a:ext cx="7688700" cy="319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sz="1500"/>
              <a:t>Goal: </a:t>
            </a:r>
            <a:r>
              <a:rPr lang="en-GB" sz="1500"/>
              <a:t>Enable instant, on-demand bias assessment to enhance media literary </a:t>
            </a:r>
            <a:endParaRPr b="1" sz="1500"/>
          </a:p>
          <a:p>
            <a:pPr indent="0" lvl="0" marL="0" rtl="0" algn="l">
              <a:spcBef>
                <a:spcPts val="1200"/>
              </a:spcBef>
              <a:spcAft>
                <a:spcPts val="0"/>
              </a:spcAft>
              <a:buNone/>
            </a:pPr>
            <a:r>
              <a:rPr b="1" lang="en-GB" sz="1500"/>
              <a:t>Recommendation: </a:t>
            </a:r>
            <a:r>
              <a:rPr lang="en-GB" sz="1500"/>
              <a:t> </a:t>
            </a:r>
            <a:r>
              <a:rPr b="1" lang="en-GB" sz="1500"/>
              <a:t>BERT </a:t>
            </a:r>
            <a:br>
              <a:rPr b="1" lang="en-GB" sz="1500"/>
            </a:br>
            <a:endParaRPr b="1"/>
          </a:p>
          <a:p>
            <a:pPr indent="-311150" lvl="0" marL="457200" rtl="0" algn="l">
              <a:spcBef>
                <a:spcPts val="1200"/>
              </a:spcBef>
              <a:spcAft>
                <a:spcPts val="0"/>
              </a:spcAft>
              <a:buSzPts val="1300"/>
              <a:buAutoNum type="arabicPeriod"/>
            </a:pPr>
            <a:r>
              <a:rPr lang="en-GB"/>
              <a:t>Has the best overall performance with peak accuracy of 85.53 and peak weighted f1 of 85.97</a:t>
            </a:r>
            <a:br>
              <a:rPr lang="en-GB"/>
            </a:br>
            <a:endParaRPr/>
          </a:p>
          <a:p>
            <a:pPr indent="-311150" lvl="0" marL="457200" rtl="0" algn="l">
              <a:spcBef>
                <a:spcPts val="0"/>
              </a:spcBef>
              <a:spcAft>
                <a:spcPts val="0"/>
              </a:spcAft>
              <a:buSzPts val="1300"/>
              <a:buAutoNum type="arabicPeriod"/>
            </a:pPr>
            <a:r>
              <a:rPr lang="en-GB"/>
              <a:t>Only requires 128 tokens for inferencing, which aligns to what is available in article previews and before paywalls</a:t>
            </a:r>
            <a:br>
              <a:rPr lang="en-GB"/>
            </a:br>
            <a:endParaRPr/>
          </a:p>
          <a:p>
            <a:pPr indent="-311150" lvl="0" marL="457200" rtl="0" algn="l">
              <a:spcBef>
                <a:spcPts val="0"/>
              </a:spcBef>
              <a:spcAft>
                <a:spcPts val="0"/>
              </a:spcAft>
              <a:buSzPts val="1300"/>
              <a:buAutoNum type="arabicPeriod"/>
            </a:pPr>
            <a:r>
              <a:rPr lang="en-GB"/>
              <a:t>Supports fast inferencing to match a user's scrolling speed when deployed on local devices </a:t>
            </a:r>
            <a:br>
              <a:rPr lang="en-GB"/>
            </a:br>
            <a:endParaRPr/>
          </a:p>
          <a:p>
            <a:pPr indent="-311150" lvl="0" marL="457200" rtl="0" algn="l">
              <a:spcBef>
                <a:spcPts val="0"/>
              </a:spcBef>
              <a:spcAft>
                <a:spcPts val="0"/>
              </a:spcAft>
              <a:buSzPts val="1300"/>
              <a:buAutoNum type="arabicPeriod"/>
            </a:pPr>
            <a:r>
              <a:rPr lang="en-GB"/>
              <a:t>Lower compute needed compared to Llama or Llama (LoRA) for implementation in production such as on a user's handphone or laptop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body"/>
          </p:nvPr>
        </p:nvSpPr>
        <p:spPr>
          <a:xfrm>
            <a:off x="729450" y="1321750"/>
            <a:ext cx="7688700" cy="35538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en-GB"/>
              <a:t>AllSides. (n.d.). Media bias rating methods. AllSides. Retrieved May 2, 2025, from </a:t>
            </a:r>
            <a:r>
              <a:rPr lang="en-GB" u="sng">
                <a:solidFill>
                  <a:schemeClr val="hlink"/>
                </a:solidFill>
                <a:hlinkClick r:id="rId3"/>
              </a:rPr>
              <a:t>https://www.allsides.com/media-bias/media-bias-rating-methods</a:t>
            </a:r>
            <a:endParaRPr/>
          </a:p>
          <a:p>
            <a:pPr indent="-311150" lvl="0" marL="457200" rtl="0" algn="l">
              <a:spcBef>
                <a:spcPts val="0"/>
              </a:spcBef>
              <a:spcAft>
                <a:spcPts val="0"/>
              </a:spcAft>
              <a:buSzPts val="1300"/>
              <a:buChar char="●"/>
            </a:pPr>
            <a:r>
              <a:rPr lang="en-GB"/>
              <a:t>World News API. (n.d.). The only News API you’ll ever need. </a:t>
            </a:r>
            <a:r>
              <a:rPr lang="en-GB" u="sng">
                <a:solidFill>
                  <a:schemeClr val="hlink"/>
                </a:solidFill>
                <a:hlinkClick r:id="rId4"/>
              </a:rPr>
              <a:t>https://worldnewsapi.com/</a:t>
            </a:r>
            <a:r>
              <a:rPr lang="en-GB"/>
              <a:t> </a:t>
            </a:r>
            <a:endParaRPr/>
          </a:p>
          <a:p>
            <a:pPr indent="-311150" lvl="0" marL="457200" rtl="0" algn="l">
              <a:spcBef>
                <a:spcPts val="0"/>
              </a:spcBef>
              <a:spcAft>
                <a:spcPts val="0"/>
              </a:spcAft>
              <a:buSzPts val="1300"/>
              <a:buChar char="●"/>
            </a:pPr>
            <a:r>
              <a:rPr lang="en-GB"/>
              <a:t>Media Bias/Fact Check. (n.d.). Search and learn the bias of news media. </a:t>
            </a:r>
            <a:r>
              <a:rPr lang="en-GB" u="sng">
                <a:solidFill>
                  <a:schemeClr val="hlink"/>
                </a:solidFill>
                <a:hlinkClick r:id="rId5"/>
              </a:rPr>
              <a:t>https://mediabiasfactcheck.com/</a:t>
            </a:r>
            <a:r>
              <a:rPr lang="en-GB"/>
              <a:t>  ￼ </a:t>
            </a:r>
            <a:endParaRPr/>
          </a:p>
          <a:p>
            <a:pPr indent="-311150" lvl="0" marL="457200" rtl="0" algn="l">
              <a:spcBef>
                <a:spcPts val="0"/>
              </a:spcBef>
              <a:spcAft>
                <a:spcPts val="0"/>
              </a:spcAft>
              <a:buSzPts val="1300"/>
              <a:buChar char="●"/>
            </a:pPr>
            <a:r>
              <a:rPr lang="en-GB"/>
              <a:t>Khandelwal, U., He, H., Qi, P., &amp; Jurafsky, D. (2018). Sharp nearby, fuzzy far away: How neural language models use context. In Proceedings of the 56th Annual Meeting of the Association for Computational Linguistics (Volume 1: Long Papers) (pp. 284–294). Association for Computational Linguistics. </a:t>
            </a:r>
            <a:r>
              <a:rPr lang="en-GB" u="sng">
                <a:solidFill>
                  <a:schemeClr val="hlink"/>
                </a:solidFill>
                <a:hlinkClick r:id="rId6"/>
              </a:rPr>
              <a:t>https://doi.org/10.18653/v1/P18-1027</a:t>
            </a:r>
            <a:r>
              <a:rPr lang="en-GB"/>
              <a:t> </a:t>
            </a:r>
            <a:endParaRPr/>
          </a:p>
          <a:p>
            <a:pPr indent="-311150" lvl="0" marL="457200" rtl="0" algn="l">
              <a:spcBef>
                <a:spcPts val="0"/>
              </a:spcBef>
              <a:spcAft>
                <a:spcPts val="0"/>
              </a:spcAft>
              <a:buSzPts val="1300"/>
              <a:buChar char="●"/>
            </a:pPr>
            <a:r>
              <a:rPr lang="en-GB"/>
              <a:t>Kawin Ethayarajh. 2019. How Contextual are Contextualized Word Representations? Comparing the Geometry of BERT, ELMo, and GPT-2 Embeddings. In Proceedings of the 2019 Conference on Empirical Methods in Natural Language Processing and the 9th International Joint Conference on Natural Language Processing (EMNLP-IJCNLP), pages 55–65, Hong Kong, China. Association for Computational Linguistics.</a:t>
            </a:r>
            <a:endParaRPr/>
          </a:p>
          <a:p>
            <a:pPr indent="-311150" lvl="0" marL="457200" rtl="0" algn="l">
              <a:spcBef>
                <a:spcPts val="0"/>
              </a:spcBef>
              <a:spcAft>
                <a:spcPts val="0"/>
              </a:spcAft>
              <a:buSzPts val="1300"/>
              <a:buChar char="●"/>
            </a:pPr>
            <a:r>
              <a:rPr lang="en-GB"/>
              <a:t>Liu, Y., Ott, M., Goyal, N., Du, J., Joshi, M., Chen, D., Levy, O., Lewis, M., Zettlemoyer, L. and Stoyanov, V., 2019. Roberta: A robustly optimized bert pretraining approach. arXiv preprint arXiv:1907.11692.</a:t>
            </a:r>
            <a:endParaRPr/>
          </a:p>
        </p:txBody>
      </p:sp>
      <p:sp>
        <p:nvSpPr>
          <p:cNvPr id="224" name="Google Shape;224;p29"/>
          <p:cNvSpPr txBox="1"/>
          <p:nvPr>
            <p:ph type="title"/>
          </p:nvPr>
        </p:nvSpPr>
        <p:spPr>
          <a:xfrm>
            <a:off x="729450" y="31142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800"/>
              <a:t>References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